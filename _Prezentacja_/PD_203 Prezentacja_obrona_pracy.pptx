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71" r:id="rId5"/>
    <p:sldId id="265" r:id="rId6"/>
    <p:sldId id="266" r:id="rId7"/>
    <p:sldId id="267" r:id="rId8"/>
    <p:sldId id="268" r:id="rId9"/>
    <p:sldId id="261" r:id="rId10"/>
    <p:sldId id="263" r:id="rId11"/>
    <p:sldId id="269" r:id="rId12"/>
    <p:sldId id="270" r:id="rId13"/>
    <p:sldId id="272" r:id="rId1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1pPr>
    <a:lvl2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2pPr>
    <a:lvl3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3pPr>
    <a:lvl4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4pPr>
    <a:lvl5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5pPr>
    <a:lvl6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6pPr>
    <a:lvl7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7pPr>
    <a:lvl8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8pPr>
    <a:lvl9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6ABA9C"/>
        </a:fontRef>
        <a:srgbClr val="6ABA9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rgbClr val="CAECDD"/>
          </a:solidFill>
        </a:fill>
      </a:tcStyle>
    </a:wholeTbl>
    <a:band2H>
      <a:tcTxStyle/>
      <a:tcStyle>
        <a:tcBdr/>
        <a:fill>
          <a:solidFill>
            <a:srgbClr val="E6F6EF"/>
          </a:solidFill>
        </a:fill>
      </a:tcStyle>
    </a:band2H>
    <a:firstCol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381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381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CAECDD"/>
          </a:solidFill>
        </a:fill>
      </a:tcStyle>
    </a:wholeTbl>
    <a:band2H>
      <a:tcTxStyle/>
      <a:tcStyle>
        <a:tcBdr/>
        <a:fill>
          <a:solidFill>
            <a:srgbClr val="E6F6EF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AF3EF"/>
          </a:solidFill>
        </a:fill>
      </a:tcStyle>
    </a:wholeTbl>
    <a:band2H>
      <a:tcTxStyle/>
      <a:tcStyle>
        <a:tcBdr/>
        <a:fill>
          <a:solidFill>
            <a:srgbClr val="6ABA9C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6ABA9C"/>
              </a:solidFill>
              <a:prstDash val="solid"/>
              <a:round/>
            </a:ln>
          </a:top>
          <a:bottom>
            <a:ln w="254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ABA9C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6ABA9C"/>
              </a:solidFill>
              <a:prstDash val="solid"/>
              <a:round/>
            </a:ln>
          </a:top>
          <a:bottom>
            <a:ln w="254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D3E6DE"/>
          </a:solidFill>
        </a:fill>
      </a:tcStyle>
    </a:wholeTbl>
    <a:band2H>
      <a:tcTxStyle/>
      <a:tcStyle>
        <a:tcBdr/>
        <a:fill>
          <a:solidFill>
            <a:srgbClr val="EAF3EF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2180" autoAdjust="0"/>
  </p:normalViewPr>
  <p:slideViewPr>
    <p:cSldViewPr snapToGrid="0">
      <p:cViewPr varScale="1">
        <p:scale>
          <a:sx n="38" d="100"/>
          <a:sy n="38" d="100"/>
        </p:scale>
        <p:origin x="1914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Arkusz_programu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l-PL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5.0000000000000001E-3"/>
          <c:y val="5.0000000000000001E-3"/>
          <c:w val="0.99"/>
          <c:h val="0.98750000000000004"/>
        </c:manualLayout>
      </c:layout>
      <c:pie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7896CF"/>
            </a:solidFill>
            <a:ln w="12700" cap="flat">
              <a:noFill/>
              <a:miter lim="400000"/>
            </a:ln>
            <a:effectLst>
              <a:outerShdw dir="2700000" algn="tl">
                <a:srgbClr val="000000">
                  <a:alpha val="0"/>
                </a:srgbClr>
              </a:outerShdw>
            </a:effectLst>
          </c:spP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1-1AF3-48C8-B815-DFD2CD0FB836}"/>
              </c:ext>
            </c:extLst>
          </c:dPt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3-1AF3-48C8-B815-DFD2CD0FB836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5-1AF3-48C8-B815-DFD2CD0FB836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7-1AF3-48C8-B815-DFD2CD0FB836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9-1AF3-48C8-B815-DFD2CD0FB836}"/>
              </c:ext>
            </c:extLst>
          </c:dPt>
          <c:dPt>
            <c:idx val="5"/>
            <c:bubble3D val="0"/>
            <c:spPr>
              <a:solidFill>
                <a:srgbClr val="FED542"/>
              </a:solidFill>
              <a:ln w="12700" cap="flat">
                <a:noFill/>
                <a:miter lim="400000"/>
              </a:ln>
              <a:effectLst>
                <a:outerShdw dir="2700000" algn="tl">
                  <a:srgbClr val="000000">
                    <a:alpha val="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1AF3-48C8-B815-DFD2CD0FB836}"/>
              </c:ext>
            </c:extLst>
          </c:dPt>
          <c:dLbls>
            <c:dLbl>
              <c:idx val="0"/>
              <c:numFmt formatCode="#,##0%" sourceLinked="0"/>
              <c:spPr/>
              <c:txPr>
                <a:bodyPr/>
                <a:lstStyle/>
                <a:p>
                  <a:pPr>
                    <a:defRPr sz="4200" b="0" i="0" u="none" strike="noStrike">
                      <a:solidFill>
                        <a:srgbClr val="7896CF"/>
                      </a:solidFill>
                      <a:latin typeface="Adagio_Slab"/>
                    </a:defRPr>
                  </a:pPr>
                  <a:endParaRPr lang="pl-PL"/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1AF3-48C8-B815-DFD2CD0FB836}"/>
                </c:ext>
              </c:extLst>
            </c:dLbl>
            <c:dLbl>
              <c:idx val="1"/>
              <c:numFmt formatCode="#,##0%" sourceLinked="0"/>
              <c:spPr/>
              <c:txPr>
                <a:bodyPr/>
                <a:lstStyle/>
                <a:p>
                  <a:pPr>
                    <a:defRPr sz="4200" b="0" i="0" u="none" strike="noStrike">
                      <a:solidFill>
                        <a:srgbClr val="7896CF"/>
                      </a:solidFill>
                      <a:latin typeface="Adagio_Slab"/>
                    </a:defRPr>
                  </a:pPr>
                  <a:endParaRPr lang="pl-PL"/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1AF3-48C8-B815-DFD2CD0FB836}"/>
                </c:ext>
              </c:extLst>
            </c:dLbl>
            <c:dLbl>
              <c:idx val="2"/>
              <c:numFmt formatCode="#,##0%" sourceLinked="0"/>
              <c:spPr/>
              <c:txPr>
                <a:bodyPr/>
                <a:lstStyle/>
                <a:p>
                  <a:pPr>
                    <a:defRPr sz="4200" b="0" i="0" u="none" strike="noStrike">
                      <a:solidFill>
                        <a:srgbClr val="7896CF"/>
                      </a:solidFill>
                      <a:latin typeface="Adagio_Slab"/>
                    </a:defRPr>
                  </a:pPr>
                  <a:endParaRPr lang="pl-PL"/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5-1AF3-48C8-B815-DFD2CD0FB836}"/>
                </c:ext>
              </c:extLst>
            </c:dLbl>
            <c:dLbl>
              <c:idx val="3"/>
              <c:numFmt formatCode="#,##0%" sourceLinked="0"/>
              <c:spPr/>
              <c:txPr>
                <a:bodyPr/>
                <a:lstStyle/>
                <a:p>
                  <a:pPr>
                    <a:defRPr sz="4200" b="0" i="0" u="none" strike="noStrike">
                      <a:solidFill>
                        <a:srgbClr val="7896CF"/>
                      </a:solidFill>
                      <a:latin typeface="Adagio_Slab"/>
                    </a:defRPr>
                  </a:pPr>
                  <a:endParaRPr lang="pl-PL"/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7-1AF3-48C8-B815-DFD2CD0FB836}"/>
                </c:ext>
              </c:extLst>
            </c:dLbl>
            <c:dLbl>
              <c:idx val="4"/>
              <c:numFmt formatCode="#,##0%" sourceLinked="0"/>
              <c:spPr/>
              <c:txPr>
                <a:bodyPr/>
                <a:lstStyle/>
                <a:p>
                  <a:pPr>
                    <a:defRPr sz="4200" b="0" i="0" u="none" strike="noStrike">
                      <a:solidFill>
                        <a:srgbClr val="7896CF"/>
                      </a:solidFill>
                      <a:latin typeface="Adagio_Slab"/>
                    </a:defRPr>
                  </a:pPr>
                  <a:endParaRPr lang="pl-PL"/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9-1AF3-48C8-B815-DFD2CD0FB836}"/>
                </c:ext>
              </c:extLst>
            </c:dLbl>
            <c:dLbl>
              <c:idx val="5"/>
              <c:numFmt formatCode="#,##0%" sourceLinked="0"/>
              <c:spPr/>
              <c:txPr>
                <a:bodyPr/>
                <a:lstStyle/>
                <a:p>
                  <a:pPr>
                    <a:defRPr sz="4200" b="0" i="0" u="none" strike="noStrike">
                      <a:solidFill>
                        <a:srgbClr val="7896CF"/>
                      </a:solidFill>
                      <a:latin typeface="Adagio_Slab"/>
                    </a:defRPr>
                  </a:pPr>
                  <a:endParaRPr lang="pl-PL"/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B-1AF3-48C8-B815-DFD2CD0FB836}"/>
                </c:ext>
              </c:extLst>
            </c:dLbl>
            <c:numFmt formatCode="#,##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4200" b="0" i="0" u="none" strike="noStrike">
                    <a:solidFill>
                      <a:srgbClr val="7896CF"/>
                    </a:solidFill>
                    <a:latin typeface="Adagio_Slab"/>
                  </a:defRPr>
                </a:pPr>
                <a:endParaRPr lang="pl-PL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91</c:v>
                </c:pt>
                <c:pt idx="1">
                  <c:v>76</c:v>
                </c:pt>
                <c:pt idx="2">
                  <c:v>28</c:v>
                </c:pt>
                <c:pt idx="3">
                  <c:v>26</c:v>
                </c:pt>
                <c:pt idx="4">
                  <c:v>21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1AF3-48C8-B815-DFD2CD0FB8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1pPr>
    <a:lvl2pPr indent="2286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2pPr>
    <a:lvl3pPr indent="4572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3pPr>
    <a:lvl4pPr indent="6858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4pPr>
    <a:lvl5pPr indent="9144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5pPr>
    <a:lvl6pPr indent="11430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6pPr>
    <a:lvl7pPr indent="13716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7pPr>
    <a:lvl8pPr indent="16002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8pPr>
    <a:lvl9pPr indent="18288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Prezentacja pracy inżynierskiej powinna być zwięzła, wizualna i trwać ok. 10 minut (8–12 slajdów). </a:t>
            </a:r>
            <a:b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</a:b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Skupia się na celu pracy, metodologii, najważniejszych wynikach oraz wnioskach, unikając długich bloków tekstu na rzecz wykresów i schematów. </a:t>
            </a:r>
            <a:b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</a:b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Kluczowe jest przedstawienie samodzielnie wykonanego projektu lub badań oraz ich praktycznego zastosowania. 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Struktura prezentacji pracy inżynierskiej:</a:t>
            </a:r>
            <a:endParaRPr lang="pl-PL" sz="2800" b="0" i="0" dirty="0" smtClean="0">
              <a:effectLst/>
              <a:latin typeface="+mn-lt"/>
              <a:ea typeface="+mn-ea"/>
              <a:cs typeface="+mn-cs"/>
              <a:sym typeface="Times New Roman"/>
            </a:endParaRP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Slajd tytułowy: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Temat pracy, autor, promotor.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Wstęp/Cel: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Uzasadnienie podjęcia tematu, zarys problemu badawczego.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Metodyka/Narzędzia: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Krótki opis metod badawczych lub narzędzi inżynierskich zastosowanych do rozwiązania problemu.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Realizacja projektu/Wyniki badań: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Najważniejsza część – prezentacja wyników, symulacji, rysunków technicznych lub funkcjonalności aplikacji.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Podsumowanie i Wnioski: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Co zostało osiągnięte, co było innowacyjne, kierunki dalszych badań.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Zakończenie: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Podziękowanie za uwagę. 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Wskazówki techniczne i merytoryczne:</a:t>
            </a:r>
            <a:endParaRPr lang="pl-PL" sz="2800" b="0" i="0" dirty="0" smtClean="0">
              <a:effectLst/>
              <a:latin typeface="+mn-lt"/>
              <a:ea typeface="+mn-ea"/>
              <a:cs typeface="+mn-cs"/>
              <a:sym typeface="Times New Roman"/>
            </a:endParaRP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Wizualizacja: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Używaj schematów, wykresów, zdjęć i podpisuj je.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Zwięzłość: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Unikaj przeładowania tekstem; stosuj </a:t>
            </a:r>
            <a:r>
              <a:rPr lang="pl-PL" sz="2800" b="0" i="0" dirty="0" err="1" smtClean="0">
                <a:effectLst/>
                <a:latin typeface="+mn-lt"/>
                <a:ea typeface="+mn-ea"/>
                <a:cs typeface="+mn-cs"/>
                <a:sym typeface="Times New Roman"/>
              </a:rPr>
              <a:t>punktory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Prezentacja ustna: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Nie czytaj ze slajdów, omawiaj je.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Przygotowanie: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Przećwicz prezentację, aby zmieścić się w czasie.</a:t>
            </a:r>
          </a:p>
          <a:p>
            <a:r>
              <a:rPr lang="pl-PL" sz="2800" b="1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Format:</a:t>
            </a:r>
            <a:r>
              <a:rPr lang="pl-PL" sz="2800" b="0" i="0" dirty="0" smtClean="0">
                <a:effectLst/>
                <a:latin typeface="+mn-lt"/>
                <a:ea typeface="+mn-ea"/>
                <a:cs typeface="+mn-cs"/>
                <a:sym typeface="Times New Roman"/>
              </a:rPr>
              <a:t> Zapisz prezentację w formacie PDF, aby uniknąć problemów z kompatybilnością. 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1085137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45720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l-PL" baseline="0" dirty="0" smtClean="0"/>
              <a:t>części 1 inżynierska - aplikacyjna</a:t>
            </a:r>
          </a:p>
          <a:p>
            <a:pPr marL="457200" marR="0" lvl="0" indent="-45720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l-PL" baseline="0" dirty="0" smtClean="0"/>
              <a:t>przygotowanie aplikacji implementującej model sieci w paradygmacie obiektowym,</a:t>
            </a:r>
            <a:br>
              <a:rPr lang="pl-PL" baseline="0" dirty="0" smtClean="0"/>
            </a:br>
            <a:r>
              <a:rPr lang="pl-PL" baseline="0" dirty="0" smtClean="0"/>
              <a:t>z wykorzystaniem testów jednostkowych. dziedziczenia, interfejsów.</a:t>
            </a:r>
            <a:br>
              <a:rPr lang="pl-PL" baseline="0" dirty="0" smtClean="0"/>
            </a:br>
            <a:endParaRPr lang="pl-PL" baseline="0" dirty="0" smtClean="0"/>
          </a:p>
          <a:p>
            <a:pPr marL="457200" marR="0" lvl="0" indent="-45720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l-PL" baseline="0" dirty="0" smtClean="0"/>
              <a:t/>
            </a:r>
            <a:br>
              <a:rPr lang="pl-PL" baseline="0" dirty="0" smtClean="0"/>
            </a:br>
            <a:r>
              <a:rPr lang="pl-PL" baseline="0" dirty="0" smtClean="0"/>
              <a:t>– analiza sieci głębokich, - warstw splotowych jako detektor artefaktów</a:t>
            </a:r>
          </a:p>
          <a:p>
            <a:pPr marL="457200" marR="0" lvl="1" indent="-45720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l-PL" baseline="0" dirty="0" smtClean="0"/>
              <a:t>- analiza perceptronu i zastosowanie </a:t>
            </a:r>
          </a:p>
          <a:p>
            <a:pPr marL="457200" marR="0" lvl="0" indent="-45720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l-PL" baseline="0" dirty="0" err="1" smtClean="0"/>
              <a:t>MLP</a:t>
            </a:r>
            <a:r>
              <a:rPr lang="pl-PL" baseline="0" dirty="0" smtClean="0"/>
              <a:t> jako sterowanie położeniem ramki dla uzyskania najlepszej dokładności klasyfikacji</a:t>
            </a:r>
          </a:p>
          <a:p>
            <a:pPr marL="457200" marR="0" lvl="0" indent="-457200" defTabSz="1087437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l-PL" dirty="0" smtClean="0"/>
              <a:t>systemy rozpoznawania (klasyfikacji) obrazu</a:t>
            </a:r>
            <a:r>
              <a:rPr lang="pl-PL" baseline="0" dirty="0" smtClean="0"/>
              <a:t> </a:t>
            </a:r>
            <a:r>
              <a:rPr lang="pl-PL" dirty="0" smtClean="0"/>
              <a:t>jako systemy czasu</a:t>
            </a:r>
            <a:r>
              <a:rPr lang="pl-PL" baseline="0" dirty="0" smtClean="0"/>
              <a:t> (</a:t>
            </a:r>
            <a:r>
              <a:rPr lang="pl-PL" baseline="0" dirty="0" err="1" smtClean="0"/>
              <a:t>quazi</a:t>
            </a:r>
            <a:r>
              <a:rPr lang="pl-PL" baseline="0" dirty="0" smtClean="0"/>
              <a:t>) rzeczywistego </a:t>
            </a:r>
          </a:p>
          <a:p>
            <a:pPr marL="457200" indent="-457200">
              <a:buFontTx/>
              <a:buChar char="-"/>
            </a:pPr>
            <a:endParaRPr lang="pl-PL" baseline="0" dirty="0" smtClean="0"/>
          </a:p>
          <a:p>
            <a:pPr marL="457200" indent="-457200">
              <a:buFontTx/>
              <a:buChar char="-"/>
            </a:pPr>
            <a:r>
              <a:rPr lang="pl-PL" baseline="0" dirty="0" smtClean="0"/>
              <a:t>realizacja wydajnego uczenia SIECI z wykorzystaniem procesorów strumieniowych w architekturze CUDA </a:t>
            </a:r>
          </a:p>
          <a:p>
            <a:pPr marL="457200" indent="-457200">
              <a:buFontTx/>
              <a:buChar char="-"/>
            </a:pPr>
            <a:r>
              <a:rPr lang="pl-PL" baseline="0" dirty="0" smtClean="0"/>
              <a:t>realizacja WYDAJNEGO UCZENIA z wykorzystaniem możliwości bibliotek </a:t>
            </a:r>
            <a:r>
              <a:rPr lang="pl-PL" baseline="0" dirty="0" err="1" smtClean="0"/>
              <a:t>cuDNN</a:t>
            </a:r>
            <a:r>
              <a:rPr lang="pl-PL" baseline="0" dirty="0" smtClean="0"/>
              <a:t> w </a:t>
            </a:r>
            <a:r>
              <a:rPr lang="pl-PL" baseline="0" dirty="0" err="1" smtClean="0"/>
              <a:t>PyTorch</a:t>
            </a:r>
            <a:r>
              <a:rPr lang="pl-PL" baseline="0" dirty="0" smtClean="0"/>
              <a:t> i hardware </a:t>
            </a:r>
            <a:r>
              <a:rPr lang="pl-PL" baseline="0" dirty="0" err="1" smtClean="0"/>
              <a:t>TensorCode</a:t>
            </a:r>
            <a:r>
              <a:rPr lang="pl-PL" baseline="0" dirty="0" smtClean="0"/>
              <a:t> </a:t>
            </a:r>
            <a:endParaRPr lang="pl-PL" baseline="0" dirty="0" smtClean="0"/>
          </a:p>
          <a:p>
            <a:pPr marL="457200" indent="-457200">
              <a:buFontTx/>
              <a:buChar char="-"/>
            </a:pPr>
            <a:endParaRPr lang="pl-PL" baseline="0" dirty="0" smtClean="0"/>
          </a:p>
          <a:p>
            <a:pPr marL="457200" indent="-457200">
              <a:buFontTx/>
              <a:buChar char="-"/>
            </a:pPr>
            <a:r>
              <a:rPr lang="pl-PL" baseline="0" dirty="0" smtClean="0"/>
              <a:t>Dlaczego uczyć ? bo nauczone działa z małym </a:t>
            </a:r>
            <a:r>
              <a:rPr lang="pl-PL" baseline="0" dirty="0" err="1" smtClean="0"/>
              <a:t>opóżnieniem</a:t>
            </a:r>
            <a:r>
              <a:rPr lang="pl-PL" baseline="0" dirty="0" smtClean="0"/>
              <a:t> jako system czasu rzeczywistego o małym zapotrzebowaniu </a:t>
            </a:r>
            <a:r>
              <a:rPr lang="pl-PL" baseline="0" smtClean="0"/>
              <a:t>na zasoby !</a:t>
            </a:r>
          </a:p>
          <a:p>
            <a:pPr marL="457200" indent="-457200">
              <a:buFontTx/>
              <a:buChar char="-"/>
            </a:pPr>
            <a:endParaRPr lang="pl-PL" baseline="0" dirty="0" smtClean="0"/>
          </a:p>
          <a:p>
            <a:pPr marL="457200" indent="-457200">
              <a:buFontTx/>
              <a:buChar char="-"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197585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ault">
    <p:bg>
      <p:bgPr>
        <a:solidFill>
          <a:srgbClr val="3C3C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/>
          </p:cNvSpPr>
          <p:nvPr>
            <p:ph type="body" sz="quarter" idx="1"/>
          </p:nvPr>
        </p:nvSpPr>
        <p:spPr>
          <a:xfrm>
            <a:off x="3657600" y="7772400"/>
            <a:ext cx="17068800" cy="3505200"/>
          </a:xfrm>
          <a:prstGeom prst="rect">
            <a:avLst/>
          </a:prstGeom>
        </p:spPr>
        <p:txBody>
          <a:bodyPr/>
          <a:lstStyle>
            <a:lvl1pPr algn="ctr"/>
            <a:lvl2pPr marL="0" indent="0" algn="ctr">
              <a:buSzTx/>
              <a:buNone/>
            </a:lvl2pPr>
            <a:lvl3pPr marL="0" algn="ctr">
              <a:buSzTx/>
              <a:buNone/>
            </a:lvl3pPr>
            <a:lvl4pPr marL="0" algn="ctr">
              <a:buSzTx/>
              <a:buNone/>
            </a:lvl4pPr>
            <a:lvl5pPr marL="0" algn="ctr">
              <a:buSz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hape 37"/>
          <p:cNvSpPr>
            <a:spLocks noGrp="1"/>
          </p:cNvSpPr>
          <p:nvPr>
            <p:ph type="sldNum" sz="quarter" idx="2"/>
          </p:nvPr>
        </p:nvSpPr>
        <p:spPr>
          <a:xfrm>
            <a:off x="22599689" y="989012"/>
            <a:ext cx="693701" cy="812801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B4A0AA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>
            <a:spLocks noGrp="1"/>
          </p:cNvSpPr>
          <p:nvPr>
            <p:ph type="title"/>
          </p:nvPr>
        </p:nvSpPr>
        <p:spPr>
          <a:xfrm>
            <a:off x="1270000" y="898525"/>
            <a:ext cx="20296188" cy="230187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5" name="Shape 45"/>
          <p:cNvSpPr>
            <a:spLocks noGrp="1"/>
          </p:cNvSpPr>
          <p:nvPr>
            <p:ph type="body" idx="1"/>
          </p:nvPr>
        </p:nvSpPr>
        <p:spPr>
          <a:xfrm>
            <a:off x="1266825" y="3173409"/>
            <a:ext cx="19483388" cy="8675693"/>
          </a:xfrm>
          <a:prstGeom prst="rect">
            <a:avLst/>
          </a:prstGeom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A9A240B-F9B9-7549-8E1B-74F8467B7E23}"/>
              </a:ext>
            </a:extLst>
          </p:cNvPr>
          <p:cNvSpPr txBox="1"/>
          <p:nvPr userDrawn="1"/>
        </p:nvSpPr>
        <p:spPr>
          <a:xfrm>
            <a:off x="17784824" y="12662452"/>
            <a:ext cx="5332351" cy="8529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110709" tIns="110709" rIns="110709" bIns="110709" numCol="1" spcCol="38100" rtlCol="0" anchor="b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3200" b="0" i="0" u="none" strike="noStrike" cap="none" spc="0" normalizeH="0" baseline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Warszawa, 01 kwietnia 2099 r.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E0459D3-1299-7B4C-8E7D-59E9A5BE85EB}"/>
              </a:ext>
            </a:extLst>
          </p:cNvPr>
          <p:cNvSpPr txBox="1"/>
          <p:nvPr userDrawn="1"/>
        </p:nvSpPr>
        <p:spPr>
          <a:xfrm>
            <a:off x="6738731" y="12662452"/>
            <a:ext cx="10490490" cy="8529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b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3200" b="0" i="0" u="none" strike="noStrike" cap="none" spc="0" normalizeH="0" baseline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Ola </a:t>
            </a:r>
            <a:r>
              <a:rPr kumimoji="0" lang="pl-PL" sz="3200" b="0" i="0" u="none" strike="noStrike" cap="none" spc="0" normalizeH="0" baseline="0" dirty="0" err="1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Olacka</a:t>
            </a:r>
            <a:r>
              <a:rPr kumimoji="0" lang="pl-PL" sz="3200" b="0" i="0" u="none" strike="noStrike" cap="none" spc="0" normalizeH="0" baseline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, </a:t>
            </a:r>
            <a:r>
              <a:rPr kumimoji="0" lang="pl-PL" sz="3200" b="0" i="1" u="none" strike="noStrike" cap="none" spc="0" normalizeH="0" baseline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Metody produkcji Krasnali Ogrodowych</a:t>
            </a:r>
          </a:p>
        </p:txBody>
      </p:sp>
      <p:pic>
        <p:nvPicPr>
          <p:cNvPr id="7" name="image3.png">
            <a:extLst>
              <a:ext uri="{FF2B5EF4-FFF2-40B4-BE49-F238E27FC236}">
                <a16:creationId xmlns:a16="http://schemas.microsoft.com/office/drawing/2014/main" id="{77B247D2-2669-CF40-A5C5-9383B3C73CB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253751" y="1276350"/>
            <a:ext cx="5105403" cy="11163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pasted-image.pdf">
            <a:extLst>
              <a:ext uri="{FF2B5EF4-FFF2-40B4-BE49-F238E27FC236}">
                <a16:creationId xmlns:a16="http://schemas.microsoft.com/office/drawing/2014/main" id="{3FEBF2C8-7012-4A4A-AEDA-59FFB1906E0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77547" y="12711948"/>
            <a:ext cx="2226547" cy="753990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image1.png">
            <a:extLst>
              <a:ext uri="{FF2B5EF4-FFF2-40B4-BE49-F238E27FC236}">
                <a16:creationId xmlns:a16="http://schemas.microsoft.com/office/drawing/2014/main" id="{DCDE4F05-29E1-9641-94D0-666413A213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92815" y="12782636"/>
            <a:ext cx="1833123" cy="61261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4" name="Shape 54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5" name="Shape 5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ABA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1.jpeg"/>
          <p:cNvPicPr>
            <a:picLocks noChangeAspect="1"/>
          </p:cNvPicPr>
          <p:nvPr/>
        </p:nvPicPr>
        <p:blipFill>
          <a:blip r:embed="rId5">
            <a:alphaModFix amt="61720"/>
          </a:blip>
          <a:srcRect l="773" t="6618" r="2642" b="17335"/>
          <a:stretch>
            <a:fillRect/>
          </a:stretch>
        </p:blipFill>
        <p:spPr>
          <a:xfrm>
            <a:off x="-2024066" y="-44450"/>
            <a:ext cx="26296944" cy="1380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imag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12460285"/>
            <a:ext cx="2085975" cy="698504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Shape 4"/>
          <p:cNvSpPr>
            <a:spLocks noGrp="1"/>
          </p:cNvSpPr>
          <p:nvPr>
            <p:ph type="title"/>
          </p:nvPr>
        </p:nvSpPr>
        <p:spPr>
          <a:xfrm>
            <a:off x="1273175" y="898525"/>
            <a:ext cx="20296188" cy="2301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Shape 5"/>
          <p:cNvSpPr>
            <a:spLocks noGrp="1"/>
          </p:cNvSpPr>
          <p:nvPr>
            <p:ph type="body" idx="1"/>
          </p:nvPr>
        </p:nvSpPr>
        <p:spPr>
          <a:xfrm>
            <a:off x="1219200" y="3200400"/>
            <a:ext cx="21945600" cy="9051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hape 6"/>
          <p:cNvSpPr>
            <a:spLocks noGrp="1"/>
          </p:cNvSpPr>
          <p:nvPr>
            <p:ph type="sldNum" sz="quarter" idx="2"/>
          </p:nvPr>
        </p:nvSpPr>
        <p:spPr>
          <a:xfrm>
            <a:off x="23810696" y="12288837"/>
            <a:ext cx="882867" cy="10541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>
            <a:spAutoFit/>
          </a:bodyPr>
          <a:lstStyle>
            <a:lvl1pPr algn="r">
              <a:lnSpc>
                <a:spcPct val="93000"/>
              </a:lnSpc>
              <a:spcBef>
                <a:spcPts val="400"/>
              </a:spcBef>
              <a:defRPr sz="6900">
                <a:solidFill>
                  <a:srgbClr val="3C3C4C"/>
                </a:solidFill>
                <a:latin typeface="Radikal WUT"/>
                <a:ea typeface="Radikal WUT"/>
                <a:cs typeface="Radikal WUT"/>
                <a:sym typeface="Radikal WU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 spd="med"/>
  <p:hf hdr="0" ftr="0" dt="0"/>
  <p:txStyles>
    <p:titleStyle>
      <a:lvl1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1pPr>
      <a:lvl2pPr marL="681566" marR="0" indent="-338666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2pPr>
      <a:lvl3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3pPr>
      <a:lvl4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4pPr>
      <a:lvl5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5pPr>
      <a:lvl6pPr marL="8001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6pPr>
      <a:lvl7pPr marL="12573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7pPr>
      <a:lvl8pPr marL="17145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8pPr>
      <a:lvl9pPr marL="21717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9pPr>
    </p:bodyStyle>
    <p:otherStyle>
      <a:lvl1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1pPr>
      <a:lvl2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2pPr>
      <a:lvl3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3pPr>
      <a:lvl4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4pPr>
      <a:lvl5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5pPr>
      <a:lvl6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6pPr>
      <a:lvl7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7pPr>
      <a:lvl8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8pPr>
      <a:lvl9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96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2000" y="1157814"/>
            <a:ext cx="5080000" cy="11107766"/>
          </a:xfrm>
          <a:prstGeom prst="rect">
            <a:avLst/>
          </a:prstGeom>
          <a:ln w="12700">
            <a:miter lim="400000"/>
          </a:ln>
        </p:spPr>
      </p:pic>
      <p:pic>
        <p:nvPicPr>
          <p:cNvPr id="70" name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0" y="11059872"/>
            <a:ext cx="3429000" cy="1154756"/>
          </a:xfrm>
          <a:prstGeom prst="rect">
            <a:avLst/>
          </a:prstGeom>
          <a:ln w="12700">
            <a:miter lim="400000"/>
          </a:ln>
        </p:spPr>
      </p:pic>
      <p:sp>
        <p:nvSpPr>
          <p:cNvPr id="71" name="Shape 71"/>
          <p:cNvSpPr/>
          <p:nvPr/>
        </p:nvSpPr>
        <p:spPr>
          <a:xfrm>
            <a:off x="2667000" y="5051945"/>
            <a:ext cx="15459554" cy="2003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algn="ctr"/>
            <a:r>
              <a:rPr lang="pl-PL" i="1" dirty="0"/>
              <a:t>Metody produkcji </a:t>
            </a:r>
            <a:br>
              <a:rPr lang="pl-PL" i="1" dirty="0"/>
            </a:br>
            <a:r>
              <a:rPr lang="pl-PL" i="1" dirty="0"/>
              <a:t>Krasnali Ogrodowych</a:t>
            </a:r>
            <a:endParaRPr i="1" dirty="0"/>
          </a:p>
        </p:txBody>
      </p:sp>
      <p:pic>
        <p:nvPicPr>
          <p:cNvPr id="72" name="pasted-image.pd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04" y="1157336"/>
            <a:ext cx="4628477" cy="156737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pole tekstowe 1">
            <a:extLst>
              <a:ext uri="{FF2B5EF4-FFF2-40B4-BE49-F238E27FC236}">
                <a16:creationId xmlns:a16="http://schemas.microsoft.com/office/drawing/2014/main" id="{A783F90A-2F92-4B96-AA06-2331F693E78A}"/>
              </a:ext>
            </a:extLst>
          </p:cNvPr>
          <p:cNvSpPr txBox="1"/>
          <p:nvPr/>
        </p:nvSpPr>
        <p:spPr>
          <a:xfrm>
            <a:off x="7288614" y="7010833"/>
            <a:ext cx="6485206" cy="100071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l-PL" i="1" dirty="0" smtClean="0">
                <a:solidFill>
                  <a:schemeClr val="tx2">
                    <a:lumMod val="50000"/>
                  </a:schemeClr>
                </a:solidFill>
              </a:rPr>
              <a:t>Piotr Heinzelman</a:t>
            </a:r>
            <a:endParaRPr kumimoji="0" lang="pl-PL" sz="4000" b="0" i="1" u="none" strike="noStrike" cap="none" spc="0" normalizeH="0" baseline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sym typeface="Times New Roman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0DBD4959-EB84-4C01-8A08-9A2EB05BC4A4}"/>
              </a:ext>
            </a:extLst>
          </p:cNvPr>
          <p:cNvSpPr txBox="1"/>
          <p:nvPr/>
        </p:nvSpPr>
        <p:spPr>
          <a:xfrm>
            <a:off x="5943780" y="8310501"/>
            <a:ext cx="9069391" cy="8529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l-PL" sz="3200" dirty="0">
                <a:solidFill>
                  <a:schemeClr val="tx2">
                    <a:lumMod val="50000"/>
                  </a:schemeClr>
                </a:solidFill>
              </a:rPr>
              <a:t>Promotor: </a:t>
            </a:r>
            <a:r>
              <a:rPr lang="pl-PL" sz="3200" i="1" dirty="0" smtClean="0">
                <a:solidFill>
                  <a:schemeClr val="tx2">
                    <a:lumMod val="50000"/>
                  </a:schemeClr>
                </a:solidFill>
              </a:rPr>
              <a:t>dr. </a:t>
            </a:r>
            <a:endParaRPr kumimoji="0" lang="pl-PL" sz="3200" b="0" i="1" u="none" strike="noStrike" cap="none" spc="0" normalizeH="0" baseline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sym typeface="Times New Roman"/>
            </a:endParaRP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61837A94-AB76-4E73-A62B-2F61224FB63A}"/>
              </a:ext>
            </a:extLst>
          </p:cNvPr>
          <p:cNvSpPr txBox="1"/>
          <p:nvPr/>
        </p:nvSpPr>
        <p:spPr>
          <a:xfrm>
            <a:off x="6893169" y="3756757"/>
            <a:ext cx="7484012" cy="100071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l-PL" i="1" dirty="0">
                <a:solidFill>
                  <a:schemeClr val="tx2">
                    <a:lumMod val="50000"/>
                  </a:schemeClr>
                </a:solidFill>
              </a:rPr>
              <a:t>Praca </a:t>
            </a:r>
            <a:r>
              <a:rPr lang="pl-PL" i="1" dirty="0" smtClean="0">
                <a:solidFill>
                  <a:schemeClr val="tx2">
                    <a:lumMod val="50000"/>
                  </a:schemeClr>
                </a:solidFill>
              </a:rPr>
              <a:t>inżynierska</a:t>
            </a:r>
            <a:endParaRPr kumimoji="0" lang="pl-PL" sz="4000" b="0" i="1" u="none" strike="noStrike" cap="none" spc="0" normalizeH="0" baseline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sym typeface="Times New Roman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BAA49275-70E8-4D44-B3CF-1B3E98AA4AC5}"/>
              </a:ext>
            </a:extLst>
          </p:cNvPr>
          <p:cNvSpPr txBox="1"/>
          <p:nvPr/>
        </p:nvSpPr>
        <p:spPr>
          <a:xfrm>
            <a:off x="15013172" y="12566637"/>
            <a:ext cx="6720552" cy="100071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110709" tIns="110709" rIns="110709" bIns="110709" numCol="1" spcCol="38100" rtlCol="0" anchor="t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Warszawa, 01 kwietnia 2099 r.</a:t>
            </a: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>
            <a:spLocks noGrp="1"/>
          </p:cNvSpPr>
          <p:nvPr>
            <p:ph type="sldNum" sz="quarter" idx="4294967295"/>
          </p:nvPr>
        </p:nvSpPr>
        <p:spPr>
          <a:xfrm>
            <a:off x="22687661" y="906463"/>
            <a:ext cx="477140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</a:t>
            </a:fld>
            <a:endParaRPr dirty="0"/>
          </a:p>
        </p:txBody>
      </p:sp>
      <p:sp>
        <p:nvSpPr>
          <p:cNvPr id="75" name="Shape 75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 fontScale="92500"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Ten szablon </a:t>
            </a:r>
            <a:r>
              <a:rPr lang="pl-PL" b="1" dirty="0"/>
              <a:t>NIE JEST </a:t>
            </a:r>
            <a:r>
              <a:rPr lang="pl-PL" dirty="0"/>
              <a:t>obowiązującym na Wydziale </a:t>
            </a:r>
            <a:r>
              <a:rPr lang="pl-PL" b="1" dirty="0"/>
              <a:t>standardem</a:t>
            </a:r>
            <a:r>
              <a:rPr lang="pl-PL" dirty="0"/>
              <a:t> prezentacji na obronę pracy dyplomowej.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Ten szablon jest </a:t>
            </a:r>
            <a:r>
              <a:rPr lang="pl-PL" b="1" dirty="0"/>
              <a:t>przykładowym</a:t>
            </a:r>
            <a:r>
              <a:rPr lang="pl-PL" dirty="0"/>
              <a:t> szablonem prezentacji, może podlegać zmianom i dostosowaniom do wymogów Komisji egzaminacyjnej, fantazji dyplomanta, pogody itd.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Zawarte w szablonie punkty należy traktować jako zalecane punkty, które warto przedstawić na obronie.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dirty="0"/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Zalecany czas trwania prezentacji – 10 minut!!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dirty="0"/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2800" dirty="0"/>
              <a:t>W szablonie zastosowano kolory i identyfikację wizualną Wydziału oraz obowiązujące na PW kroje czcionek.</a:t>
            </a:r>
          </a:p>
        </p:txBody>
      </p:sp>
      <p:sp>
        <p:nvSpPr>
          <p:cNvPr id="76" name="Shape 76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Cel dokumentu</a:t>
            </a:r>
            <a:endParaRPr dirty="0"/>
          </a:p>
        </p:txBody>
      </p: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2644719" y="906463"/>
            <a:ext cx="520079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  <p:sp>
        <p:nvSpPr>
          <p:cNvPr id="81" name="Shape 81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Tutaj należy zaprezentować motywację do podjęcia tematu pracy i wprowadzić komisję do poruszanej tematyki i przedstawić problem którym się zajmujemy w pracy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Motywacja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2644719" y="906463"/>
            <a:ext cx="520079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69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1" name="Shape 81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 fontScale="92500"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Tutaj trzeba sformułować cel główny pracy i zdefiniować cele poboczne.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Cel powinien być: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zrozumiały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osiągalny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mierzalny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krótko i jasno sformułowany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l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7000" b="0" i="0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Cel pracy</a:t>
            </a:r>
            <a:endParaRPr kumimoji="0" sz="70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</p:spTree>
    <p:extLst>
      <p:ext uri="{BB962C8B-B14F-4D97-AF65-F5344CB8AC3E}">
        <p14:creationId xmlns:p14="http://schemas.microsoft.com/office/powerpoint/2010/main" val="1993542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2644719" y="906463"/>
            <a:ext cx="520079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1" name="Shape 81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Tu prezentujemy KRÓTKO dziedzinę problemową i  stan wiedzy / znane np. w literaturze sposoby rozwiązania problemów, którymi się zajmujemy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>
              <a:defRPr sz="3500"/>
            </a:pPr>
            <a:r>
              <a:rPr lang="pl-PL" sz="7200" dirty="0"/>
              <a:t>Przeanalizowane metody i narzędzia</a:t>
            </a:r>
          </a:p>
        </p:txBody>
      </p:sp>
    </p:spTree>
    <p:extLst>
      <p:ext uri="{BB962C8B-B14F-4D97-AF65-F5344CB8AC3E}">
        <p14:creationId xmlns:p14="http://schemas.microsoft.com/office/powerpoint/2010/main" val="3940799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2644719" y="906463"/>
            <a:ext cx="520079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1" name="Shape 81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Charakteryzujemy najważniejsze metody i narzędzia użyte w pracy do osiągnięcia postawionych celów.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lvl="0">
              <a:defRPr sz="3500"/>
            </a:pPr>
            <a:r>
              <a:rPr lang="pl-PL" sz="7200" dirty="0"/>
              <a:t>Wykorzystane metody i narzędzia</a:t>
            </a:r>
            <a:endParaRPr kumimoji="0" lang="pl-PL" sz="72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</p:spTree>
    <p:extLst>
      <p:ext uri="{BB962C8B-B14F-4D97-AF65-F5344CB8AC3E}">
        <p14:creationId xmlns:p14="http://schemas.microsoft.com/office/powerpoint/2010/main" val="606568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2644719" y="906463"/>
            <a:ext cx="520079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1" name="Shape 81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Przedstawiamy sposób rozwiązania problemu i drogę dojścia do zdefiniowanego celu.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lvl="0">
              <a:defRPr sz="3500"/>
            </a:pPr>
            <a:r>
              <a:rPr lang="pl-PL" sz="7200" dirty="0"/>
              <a:t>Sposób rozwiązania problemu</a:t>
            </a:r>
            <a:endParaRPr kumimoji="0" lang="pl-PL" sz="72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</p:spTree>
    <p:extLst>
      <p:ext uri="{BB962C8B-B14F-4D97-AF65-F5344CB8AC3E}">
        <p14:creationId xmlns:p14="http://schemas.microsoft.com/office/powerpoint/2010/main" val="350473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2644719" y="906463"/>
            <a:ext cx="520079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1" name="Shape 81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Przedstawiamy najważniejsze rezultaty pracy, badań, testów, itp.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Podkreślamy i koncentrujemy się na SWOICH osiągnięciach.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l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/>
            </a:pPr>
            <a:r>
              <a:rPr lang="pl-PL" sz="7200" dirty="0"/>
              <a:t>Osiągnięte rezultaty</a:t>
            </a:r>
            <a:endParaRPr kumimoji="0" lang="pl-PL" sz="72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</p:spTree>
    <p:extLst>
      <p:ext uri="{BB962C8B-B14F-4D97-AF65-F5344CB8AC3E}">
        <p14:creationId xmlns:p14="http://schemas.microsoft.com/office/powerpoint/2010/main" val="4194511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/>
          </p:cNvSpPr>
          <p:nvPr>
            <p:ph type="sldNum" sz="quarter" idx="4294967295"/>
          </p:nvPr>
        </p:nvSpPr>
        <p:spPr>
          <a:xfrm>
            <a:off x="22658740" y="906463"/>
            <a:ext cx="506058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 dirty="0"/>
          </a:p>
        </p:txBody>
      </p:sp>
      <p:sp>
        <p:nvSpPr>
          <p:cNvPr id="92" name="Shape 92"/>
          <p:cNvSpPr>
            <a:spLocks noGrp="1"/>
          </p:cNvSpPr>
          <p:nvPr>
            <p:ph type="title"/>
          </p:nvPr>
        </p:nvSpPr>
        <p:spPr>
          <a:xfrm>
            <a:off x="1269997" y="898525"/>
            <a:ext cx="20296194" cy="2301875"/>
          </a:xfrm>
          <a:prstGeom prst="rect">
            <a:avLst/>
          </a:prstGeom>
        </p:spPr>
        <p:txBody>
          <a:bodyPr/>
          <a:lstStyle>
            <a:lvl1pPr>
              <a:defRPr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Wyniki - p</a:t>
            </a:r>
            <a:r>
              <a:rPr dirty="0" err="1"/>
              <a:t>rzykładowa</a:t>
            </a:r>
            <a:r>
              <a:rPr dirty="0"/>
              <a:t> </a:t>
            </a:r>
            <a:r>
              <a:rPr dirty="0" err="1"/>
              <a:t>tabela</a:t>
            </a:r>
            <a:endParaRPr dirty="0"/>
          </a:p>
        </p:txBody>
      </p:sp>
      <p:graphicFrame>
        <p:nvGraphicFramePr>
          <p:cNvPr id="93" name="Table 93"/>
          <p:cNvGraphicFramePr/>
          <p:nvPr>
            <p:extLst>
              <p:ext uri="{D42A27DB-BD31-4B8C-83A1-F6EECF244321}">
                <p14:modId xmlns:p14="http://schemas.microsoft.com/office/powerpoint/2010/main" val="564584249"/>
              </p:ext>
            </p:extLst>
          </p:nvPr>
        </p:nvGraphicFramePr>
        <p:xfrm>
          <a:off x="5340350" y="3704160"/>
          <a:ext cx="13703300" cy="7897810"/>
        </p:xfrm>
        <a:graphic>
          <a:graphicData uri="http://schemas.openxmlformats.org/drawingml/2006/table">
            <a:tbl>
              <a:tblPr firstRow="1">
                <a:tableStyleId>{4C3C2611-4C71-4FC5-86AE-919BDF0F9419}</a:tableStyleId>
              </a:tblPr>
              <a:tblGrid>
                <a:gridCol w="3425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79562"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2800" b="1">
                          <a:solidFill>
                            <a:srgbClr val="3C3C4C"/>
                          </a:solidFill>
                          <a:latin typeface="Adagio_Slab-SemiBold"/>
                          <a:ea typeface="Adagio_Slab-SemiBold"/>
                          <a:cs typeface="Adagio_Slab-SemiBold"/>
                          <a:sym typeface="Adagio_Slab-SemiBold"/>
                        </a:rPr>
                        <a:t>temat</a:t>
                      </a:r>
                    </a:p>
                  </a:txBody>
                  <a:tcPr marL="0" marR="0" marT="0" marB="0" anchor="ctr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2800" b="1" dirty="0" err="1">
                          <a:solidFill>
                            <a:srgbClr val="3C3C4C"/>
                          </a:solidFill>
                          <a:latin typeface="Adagio_Slab-SemiBold"/>
                          <a:ea typeface="Adagio_Slab-SemiBold"/>
                          <a:cs typeface="Adagio_Slab-SemiBold"/>
                          <a:sym typeface="Adagio_Slab-SemiBold"/>
                        </a:rPr>
                        <a:t>temat</a:t>
                      </a:r>
                      <a:endParaRPr sz="2800" b="1" dirty="0">
                        <a:solidFill>
                          <a:srgbClr val="3C3C4C"/>
                        </a:solidFill>
                        <a:latin typeface="Adagio_Slab-SemiBold"/>
                        <a:ea typeface="Adagio_Slab-SemiBold"/>
                        <a:cs typeface="Adagio_Slab-SemiBold"/>
                        <a:sym typeface="Adagio_Slab-SemiBold"/>
                      </a:endParaRPr>
                    </a:p>
                  </a:txBody>
                  <a:tcPr marL="0" marR="0" marT="0" marB="0" anchor="ctr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2800" b="1">
                          <a:solidFill>
                            <a:srgbClr val="3C3C4C"/>
                          </a:solidFill>
                          <a:latin typeface="Adagio_Slab-SemiBold"/>
                          <a:ea typeface="Adagio_Slab-SemiBold"/>
                          <a:cs typeface="Adagio_Slab-SemiBold"/>
                          <a:sym typeface="Adagio_Slab-SemiBold"/>
                        </a:rPr>
                        <a:t>temat</a:t>
                      </a:r>
                    </a:p>
                  </a:txBody>
                  <a:tcPr marL="0" marR="0" marT="0" marB="0" anchor="ctr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2800" b="1">
                          <a:solidFill>
                            <a:srgbClr val="3C3C4C"/>
                          </a:solidFill>
                          <a:latin typeface="Adagio_Slab-SemiBold"/>
                          <a:ea typeface="Adagio_Slab-SemiBold"/>
                          <a:cs typeface="Adagio_Slab-SemiBold"/>
                          <a:sym typeface="Adagio_Slab-SemiBold"/>
                        </a:rPr>
                        <a:t>temat</a:t>
                      </a:r>
                    </a:p>
                  </a:txBody>
                  <a:tcPr marL="0" marR="0" marT="0" marB="0" anchor="ctr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9562"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562"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562"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79562"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106487" algn="l">
                        <a:spcBef>
                          <a:spcPts val="0"/>
                        </a:spcBef>
                        <a:tabLst>
                          <a:tab pos="1066800" algn="l"/>
                          <a:tab pos="2146300" algn="l"/>
                          <a:tab pos="3251200" algn="l"/>
                          <a:tab pos="4330700" algn="l"/>
                          <a:tab pos="5410200" algn="l"/>
                          <a:tab pos="6515100" algn="l"/>
                          <a:tab pos="7594600" algn="l"/>
                          <a:tab pos="8661400" algn="l"/>
                          <a:tab pos="9779000" algn="l"/>
                          <a:tab pos="10845800" algn="l"/>
                          <a:tab pos="11950700" algn="l"/>
                          <a:tab pos="13030200" algn="l"/>
                          <a:tab pos="14109700" algn="l"/>
                          <a:tab pos="15214600" algn="l"/>
                          <a:tab pos="16294100" algn="l"/>
                          <a:tab pos="17373600" algn="l"/>
                          <a:tab pos="18478500" algn="l"/>
                          <a:tab pos="19558000" algn="l"/>
                          <a:tab pos="20662900" algn="l"/>
                          <a:tab pos="21742400" algn="l"/>
                        </a:tabLst>
                        <a:defRPr sz="4200">
                          <a:solidFill>
                            <a:srgbClr val="000000"/>
                          </a:solidFill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horzOverflow="overflow">
                    <a:lnL w="25400">
                      <a:solidFill>
                        <a:srgbClr val="7896CF"/>
                      </a:solidFill>
                    </a:lnL>
                    <a:lnR w="25400">
                      <a:solidFill>
                        <a:srgbClr val="7896CF"/>
                      </a:solidFill>
                    </a:lnR>
                    <a:lnT w="25400">
                      <a:solidFill>
                        <a:srgbClr val="7896CF"/>
                      </a:solidFill>
                    </a:lnT>
                    <a:lnB w="25400">
                      <a:solidFill>
                        <a:srgbClr val="7896C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pole tekstowe 2">
            <a:extLst>
              <a:ext uri="{FF2B5EF4-FFF2-40B4-BE49-F238E27FC236}">
                <a16:creationId xmlns:a16="http://schemas.microsoft.com/office/drawing/2014/main" id="{FC5489B7-3D07-4165-8261-25E9C25CAD4A}"/>
              </a:ext>
            </a:extLst>
          </p:cNvPr>
          <p:cNvSpPr txBox="1"/>
          <p:nvPr/>
        </p:nvSpPr>
        <p:spPr>
          <a:xfrm>
            <a:off x="7118809" y="2525430"/>
            <a:ext cx="9849853" cy="9268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3600" b="0" i="1" u="none" strike="noStrike" cap="none" spc="0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Tabela </a:t>
            </a:r>
            <a:r>
              <a:rPr kumimoji="0" lang="pl-PL" sz="3600" b="0" i="1" u="none" strike="noStrike" cap="none" spc="0" normalizeH="0" baseline="0" dirty="0" err="1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nr_tabeli</a:t>
            </a:r>
            <a:r>
              <a:rPr kumimoji="0" lang="pl-PL" sz="3600" b="0" i="1" u="none" strike="noStrike" cap="none" spc="0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: Tytuł tabeli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>
            <a:spLocks noGrp="1"/>
          </p:cNvSpPr>
          <p:nvPr>
            <p:ph type="title"/>
          </p:nvPr>
        </p:nvSpPr>
        <p:spPr>
          <a:xfrm>
            <a:off x="1269997" y="898525"/>
            <a:ext cx="20296194" cy="2301875"/>
          </a:xfrm>
          <a:prstGeom prst="rect">
            <a:avLst/>
          </a:prstGeom>
        </p:spPr>
        <p:txBody>
          <a:bodyPr/>
          <a:lstStyle>
            <a:lvl1pPr>
              <a:defRPr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Wyniki – przykładowy w</a:t>
            </a:r>
            <a:r>
              <a:rPr dirty="0" err="1"/>
              <a:t>ykres</a:t>
            </a:r>
            <a:r>
              <a:rPr dirty="0"/>
              <a:t> z </a:t>
            </a:r>
            <a:r>
              <a:rPr dirty="0" err="1"/>
              <a:t>opisem</a:t>
            </a:r>
            <a:endParaRPr dirty="0"/>
          </a:p>
        </p:txBody>
      </p:sp>
      <p:graphicFrame>
        <p:nvGraphicFramePr>
          <p:cNvPr id="102" name="Chart 102"/>
          <p:cNvGraphicFramePr/>
          <p:nvPr/>
        </p:nvGraphicFramePr>
        <p:xfrm>
          <a:off x="7508296" y="3667555"/>
          <a:ext cx="7819594" cy="78195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3" name="Shape 103"/>
          <p:cNvSpPr>
            <a:spLocks noGrp="1"/>
          </p:cNvSpPr>
          <p:nvPr>
            <p:ph type="body" sz="quarter" idx="1"/>
          </p:nvPr>
        </p:nvSpPr>
        <p:spPr>
          <a:xfrm>
            <a:off x="720429" y="4566854"/>
            <a:ext cx="5923065" cy="6020996"/>
          </a:xfrm>
          <a:prstGeom prst="rect">
            <a:avLst/>
          </a:prstGeom>
        </p:spPr>
        <p:txBody>
          <a:bodyPr/>
          <a:lstStyle/>
          <a:p>
            <a:pPr marL="342900" indent="-342900">
              <a:spcBef>
                <a:spcPts val="400"/>
              </a:spcBef>
              <a:buClr>
                <a:srgbClr val="FED542"/>
              </a:buClr>
              <a:buSzPct val="300000"/>
              <a:buChar char="•"/>
              <a:defRPr sz="3500"/>
            </a:pPr>
            <a:r>
              <a:rPr dirty="0"/>
              <a:t> Lorem ipsum lorem ipsum </a:t>
            </a:r>
          </a:p>
          <a:p>
            <a:pPr marL="355600" indent="-355600">
              <a:spcBef>
                <a:spcPts val="400"/>
              </a:spcBef>
              <a:buClr>
                <a:srgbClr val="7896CF"/>
              </a:buClr>
              <a:buSzPct val="300000"/>
              <a:buChar char="•"/>
              <a:defRPr sz="3500"/>
            </a:pPr>
            <a:r>
              <a:rPr dirty="0"/>
              <a:t> Lorem ipsum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E6670305-42C1-4D78-938D-79E694470C5C}"/>
              </a:ext>
            </a:extLst>
          </p:cNvPr>
          <p:cNvSpPr txBox="1"/>
          <p:nvPr/>
        </p:nvSpPr>
        <p:spPr>
          <a:xfrm>
            <a:off x="6493166" y="11551025"/>
            <a:ext cx="9849853" cy="9268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3600" b="0" i="1" u="none" strike="noStrike" cap="none" spc="0" normalizeH="0" baseline="0" dirty="0" err="1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Rys.nr_rysunku</a:t>
            </a:r>
            <a:r>
              <a:rPr kumimoji="0" lang="pl-PL" sz="3600" b="0" i="1" u="none" strike="noStrike" cap="none" spc="0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,  Nazwa rysunku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22B9C7FC-FBEF-534C-9F3F-296FA098E6C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2231133" y="371474"/>
            <a:ext cx="882867" cy="1054101"/>
          </a:xfrm>
        </p:spPr>
        <p:txBody>
          <a:bodyPr/>
          <a:lstStyle/>
          <a:p>
            <a:fld id="{86CB4B4D-7CA3-9044-876B-883B54F8677D}" type="slidenum">
              <a:rPr lang="pl-PL" smtClean="0"/>
              <a:t>9</a:t>
            </a:fld>
            <a:endParaRPr lang="pl-P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2644719" y="906463"/>
            <a:ext cx="520079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1" name="Shape 81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Odpowiadamy na pytanie:  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Co uważam za </a:t>
            </a:r>
            <a:r>
              <a:rPr lang="pl-PL" u="sng" dirty="0"/>
              <a:t>swoje</a:t>
            </a:r>
            <a:r>
              <a:rPr lang="pl-PL" dirty="0"/>
              <a:t> osiągnięcie, dokonanie w prezentowanej pracy? 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Co zrobiłem sam, jakie prace, badania, próby, sukcesy i porażki zrealizowałem w czasie pracy nad dyplomem?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l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/>
            </a:pPr>
            <a:r>
              <a:rPr kumimoji="0" lang="pl-PL" sz="7200" b="0" i="0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Podsumowanie</a:t>
            </a:r>
          </a:p>
        </p:txBody>
      </p:sp>
    </p:spTree>
    <p:extLst>
      <p:ext uri="{BB962C8B-B14F-4D97-AF65-F5344CB8AC3E}">
        <p14:creationId xmlns:p14="http://schemas.microsoft.com/office/powerpoint/2010/main" val="3991348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2644719" y="906463"/>
            <a:ext cx="520079" cy="105410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1" name="Shape 81"/>
          <p:cNvSpPr>
            <a:spLocks noGrp="1"/>
          </p:cNvSpPr>
          <p:nvPr>
            <p:ph type="body" sz="half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Wskazujemy możliwe dalsze kierunki badań/rozwoju projektu.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l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/>
            </a:pPr>
            <a:r>
              <a:rPr lang="pl-PL" sz="7200" dirty="0"/>
              <a:t>Możliwości dalszego rozwoju</a:t>
            </a:r>
            <a:endParaRPr kumimoji="0" lang="pl-PL" sz="72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</p:spTree>
    <p:extLst>
      <p:ext uri="{BB962C8B-B14F-4D97-AF65-F5344CB8AC3E}">
        <p14:creationId xmlns:p14="http://schemas.microsoft.com/office/powerpoint/2010/main" val="1635565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96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00" y="1157814"/>
            <a:ext cx="5080000" cy="11107766"/>
          </a:xfrm>
          <a:prstGeom prst="rect">
            <a:avLst/>
          </a:prstGeom>
          <a:ln w="12700">
            <a:miter lim="400000"/>
          </a:ln>
        </p:spPr>
      </p:pic>
      <p:pic>
        <p:nvPicPr>
          <p:cNvPr id="70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11059872"/>
            <a:ext cx="3429000" cy="1154756"/>
          </a:xfrm>
          <a:prstGeom prst="rect">
            <a:avLst/>
          </a:prstGeom>
          <a:ln w="12700">
            <a:miter lim="400000"/>
          </a:ln>
        </p:spPr>
      </p:pic>
      <p:sp>
        <p:nvSpPr>
          <p:cNvPr id="71" name="Shape 71"/>
          <p:cNvSpPr/>
          <p:nvPr/>
        </p:nvSpPr>
        <p:spPr>
          <a:xfrm>
            <a:off x="3018278" y="6078640"/>
            <a:ext cx="15459554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ctr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7000" b="0" i="1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Dziękuję za uwagę !!!</a:t>
            </a:r>
            <a:endParaRPr kumimoji="0" sz="7000" b="0" i="1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pic>
        <p:nvPicPr>
          <p:cNvPr id="72" name="pasted-image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04" y="1157336"/>
            <a:ext cx="4628477" cy="156737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964818950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">
  <a:themeElements>
    <a:clrScheme name="Office">
      <a:dk1>
        <a:srgbClr val="6ABA9C"/>
      </a:dk1>
      <a:lt1>
        <a:srgbClr val="6ABA9C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Times New Roman"/>
        <a:ea typeface="Times New Roma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ABA9C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Times New Roman"/>
        <a:ea typeface="Times New Roma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ABA9C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987</Words>
  <Application>Microsoft Office PowerPoint</Application>
  <PresentationFormat>Niestandardowy</PresentationFormat>
  <Paragraphs>116</Paragraphs>
  <Slides>13</Slides>
  <Notes>2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20" baseType="lpstr">
      <vt:lpstr>Adagio_Slab</vt:lpstr>
      <vt:lpstr>Adagio_Slab-Regular_italic</vt:lpstr>
      <vt:lpstr>Adagio_Slab-SemiBold</vt:lpstr>
      <vt:lpstr>Helvetica</vt:lpstr>
      <vt:lpstr>Radikal WUT</vt:lpstr>
      <vt:lpstr>Times New Roman</vt:lpstr>
      <vt:lpstr>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Wyniki - przykładowa tabela</vt:lpstr>
      <vt:lpstr>Wyniki – przykładowy wykres z opisem</vt:lpstr>
      <vt:lpstr>Prezentacja programu PowerPoint</vt:lpstr>
      <vt:lpstr>Prezentacja programu PowerPoint</vt:lpstr>
      <vt:lpstr>Prezentacja programu PowerPoint</vt:lpstr>
    </vt:vector>
  </TitlesOfParts>
  <Manager/>
  <Company>Wydział Elektryczny, Politechnika Warszawska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na obronę pracy dyolomowej</dc:title>
  <dc:subject/>
  <dc:creator>Grzegorz Sarwas, Włodzimierz Dąbrowski</dc:creator>
  <cp:keywords>Prace dyplomowe</cp:keywords>
  <dc:description>Przykładowy szablon prezentacji na obronę pracy dyplomowej z uwzględnieniem obowiązującej identyfikacji wizualnej PW.
Wersja 1.0</dc:description>
  <cp:lastModifiedBy>Piotr Heinzelman</cp:lastModifiedBy>
  <cp:revision>25</cp:revision>
  <dcterms:modified xsi:type="dcterms:W3CDTF">2026-01-30T15:21:30Z</dcterms:modified>
  <cp:category>Dyplom</cp:category>
</cp:coreProperties>
</file>