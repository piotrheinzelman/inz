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71" r:id="rId5"/>
    <p:sldId id="266" r:id="rId6"/>
    <p:sldId id="273" r:id="rId7"/>
    <p:sldId id="267" r:id="rId8"/>
    <p:sldId id="261" r:id="rId9"/>
    <p:sldId id="269" r:id="rId10"/>
    <p:sldId id="270" r:id="rId11"/>
    <p:sldId id="272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087437" rtl="0" fontAlgn="auto" latinLnBrk="0" hangingPunct="0">
      <a:lnSpc>
        <a:spcPct val="120000"/>
      </a:lnSpc>
      <a:spcBef>
        <a:spcPts val="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6ABA9C"/>
        </a:solidFill>
        <a:effectLst/>
        <a:uFillTx/>
        <a:latin typeface="+mn-lt"/>
        <a:ea typeface="+mn-ea"/>
        <a:cs typeface="+mn-cs"/>
        <a:sym typeface="Times New Roman"/>
      </a:defRPr>
    </a:lvl1pPr>
    <a:lvl2pPr marL="0" marR="0" indent="0" algn="l" defTabSz="1087437" rtl="0" fontAlgn="auto" latinLnBrk="0" hangingPunct="0">
      <a:lnSpc>
        <a:spcPct val="120000"/>
      </a:lnSpc>
      <a:spcBef>
        <a:spcPts val="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6ABA9C"/>
        </a:solidFill>
        <a:effectLst/>
        <a:uFillTx/>
        <a:latin typeface="+mn-lt"/>
        <a:ea typeface="+mn-ea"/>
        <a:cs typeface="+mn-cs"/>
        <a:sym typeface="Times New Roman"/>
      </a:defRPr>
    </a:lvl2pPr>
    <a:lvl3pPr marL="0" marR="0" indent="0" algn="l" defTabSz="1087437" rtl="0" fontAlgn="auto" latinLnBrk="0" hangingPunct="0">
      <a:lnSpc>
        <a:spcPct val="120000"/>
      </a:lnSpc>
      <a:spcBef>
        <a:spcPts val="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6ABA9C"/>
        </a:solidFill>
        <a:effectLst/>
        <a:uFillTx/>
        <a:latin typeface="+mn-lt"/>
        <a:ea typeface="+mn-ea"/>
        <a:cs typeface="+mn-cs"/>
        <a:sym typeface="Times New Roman"/>
      </a:defRPr>
    </a:lvl3pPr>
    <a:lvl4pPr marL="0" marR="0" indent="0" algn="l" defTabSz="1087437" rtl="0" fontAlgn="auto" latinLnBrk="0" hangingPunct="0">
      <a:lnSpc>
        <a:spcPct val="120000"/>
      </a:lnSpc>
      <a:spcBef>
        <a:spcPts val="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6ABA9C"/>
        </a:solidFill>
        <a:effectLst/>
        <a:uFillTx/>
        <a:latin typeface="+mn-lt"/>
        <a:ea typeface="+mn-ea"/>
        <a:cs typeface="+mn-cs"/>
        <a:sym typeface="Times New Roman"/>
      </a:defRPr>
    </a:lvl4pPr>
    <a:lvl5pPr marL="0" marR="0" indent="0" algn="l" defTabSz="1087437" rtl="0" fontAlgn="auto" latinLnBrk="0" hangingPunct="0">
      <a:lnSpc>
        <a:spcPct val="120000"/>
      </a:lnSpc>
      <a:spcBef>
        <a:spcPts val="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6ABA9C"/>
        </a:solidFill>
        <a:effectLst/>
        <a:uFillTx/>
        <a:latin typeface="+mn-lt"/>
        <a:ea typeface="+mn-ea"/>
        <a:cs typeface="+mn-cs"/>
        <a:sym typeface="Times New Roman"/>
      </a:defRPr>
    </a:lvl5pPr>
    <a:lvl6pPr marL="0" marR="0" indent="0" algn="l" defTabSz="1087437" rtl="0" fontAlgn="auto" latinLnBrk="0" hangingPunct="0">
      <a:lnSpc>
        <a:spcPct val="120000"/>
      </a:lnSpc>
      <a:spcBef>
        <a:spcPts val="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6ABA9C"/>
        </a:solidFill>
        <a:effectLst/>
        <a:uFillTx/>
        <a:latin typeface="+mn-lt"/>
        <a:ea typeface="+mn-ea"/>
        <a:cs typeface="+mn-cs"/>
        <a:sym typeface="Times New Roman"/>
      </a:defRPr>
    </a:lvl6pPr>
    <a:lvl7pPr marL="0" marR="0" indent="0" algn="l" defTabSz="1087437" rtl="0" fontAlgn="auto" latinLnBrk="0" hangingPunct="0">
      <a:lnSpc>
        <a:spcPct val="120000"/>
      </a:lnSpc>
      <a:spcBef>
        <a:spcPts val="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6ABA9C"/>
        </a:solidFill>
        <a:effectLst/>
        <a:uFillTx/>
        <a:latin typeface="+mn-lt"/>
        <a:ea typeface="+mn-ea"/>
        <a:cs typeface="+mn-cs"/>
        <a:sym typeface="Times New Roman"/>
      </a:defRPr>
    </a:lvl7pPr>
    <a:lvl8pPr marL="0" marR="0" indent="0" algn="l" defTabSz="1087437" rtl="0" fontAlgn="auto" latinLnBrk="0" hangingPunct="0">
      <a:lnSpc>
        <a:spcPct val="120000"/>
      </a:lnSpc>
      <a:spcBef>
        <a:spcPts val="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6ABA9C"/>
        </a:solidFill>
        <a:effectLst/>
        <a:uFillTx/>
        <a:latin typeface="+mn-lt"/>
        <a:ea typeface="+mn-ea"/>
        <a:cs typeface="+mn-cs"/>
        <a:sym typeface="Times New Roman"/>
      </a:defRPr>
    </a:lvl8pPr>
    <a:lvl9pPr marL="0" marR="0" indent="0" algn="l" defTabSz="1087437" rtl="0" fontAlgn="auto" latinLnBrk="0" hangingPunct="0">
      <a:lnSpc>
        <a:spcPct val="120000"/>
      </a:lnSpc>
      <a:spcBef>
        <a:spcPts val="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6ABA9C"/>
        </a:solidFill>
        <a:effectLst/>
        <a:uFillTx/>
        <a:latin typeface="+mn-lt"/>
        <a:ea typeface="+mn-ea"/>
        <a:cs typeface="+mn-cs"/>
        <a:sym typeface="Times New Roman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6ABA9C"/>
        </a:fontRef>
        <a:srgbClr val="6ABA9C"/>
      </a:tcTxStyle>
      <a:tcStyle>
        <a:tcBdr>
          <a:left>
            <a:ln w="12700" cap="flat">
              <a:solidFill>
                <a:srgbClr val="3C3C4C"/>
              </a:solidFill>
              <a:prstDash val="solid"/>
              <a:round/>
            </a:ln>
          </a:left>
          <a:right>
            <a:ln w="12700" cap="flat">
              <a:solidFill>
                <a:srgbClr val="3C3C4C"/>
              </a:solidFill>
              <a:prstDash val="solid"/>
              <a:round/>
            </a:ln>
          </a:right>
          <a:top>
            <a:ln w="12700" cap="flat">
              <a:solidFill>
                <a:srgbClr val="3C3C4C"/>
              </a:solidFill>
              <a:prstDash val="solid"/>
              <a:round/>
            </a:ln>
          </a:top>
          <a:bottom>
            <a:ln w="12700" cap="flat">
              <a:solidFill>
                <a:srgbClr val="3C3C4C"/>
              </a:solidFill>
              <a:prstDash val="solid"/>
              <a:round/>
            </a:ln>
          </a:bottom>
          <a:insideH>
            <a:ln w="12700" cap="flat">
              <a:solidFill>
                <a:srgbClr val="3C3C4C"/>
              </a:solidFill>
              <a:prstDash val="solid"/>
              <a:round/>
            </a:ln>
          </a:insideH>
          <a:insideV>
            <a:ln w="12700" cap="flat">
              <a:solidFill>
                <a:srgbClr val="3C3C4C"/>
              </a:solidFill>
              <a:prstDash val="solid"/>
              <a:round/>
            </a:ln>
          </a:insideV>
        </a:tcBdr>
        <a:fill>
          <a:solidFill>
            <a:srgbClr val="CAECDD"/>
          </a:solidFill>
        </a:fill>
      </a:tcStyle>
    </a:wholeTbl>
    <a:band2H>
      <a:tcTxStyle/>
      <a:tcStyle>
        <a:tcBdr/>
        <a:fill>
          <a:solidFill>
            <a:srgbClr val="E6F6EF"/>
          </a:solidFill>
        </a:fill>
      </a:tcStyle>
    </a:band2H>
    <a:firstCol>
      <a:tcTxStyle b="on" i="off">
        <a:fontRef idx="major">
          <a:srgbClr val="3C3C4C"/>
        </a:fontRef>
        <a:srgbClr val="3C3C4C"/>
      </a:tcTxStyle>
      <a:tcStyle>
        <a:tcBdr>
          <a:left>
            <a:ln w="12700" cap="flat">
              <a:solidFill>
                <a:srgbClr val="3C3C4C"/>
              </a:solidFill>
              <a:prstDash val="solid"/>
              <a:round/>
            </a:ln>
          </a:left>
          <a:right>
            <a:ln w="12700" cap="flat">
              <a:solidFill>
                <a:srgbClr val="3C3C4C"/>
              </a:solidFill>
              <a:prstDash val="solid"/>
              <a:round/>
            </a:ln>
          </a:right>
          <a:top>
            <a:ln w="12700" cap="flat">
              <a:solidFill>
                <a:srgbClr val="3C3C4C"/>
              </a:solidFill>
              <a:prstDash val="solid"/>
              <a:round/>
            </a:ln>
          </a:top>
          <a:bottom>
            <a:ln w="12700" cap="flat">
              <a:solidFill>
                <a:srgbClr val="3C3C4C"/>
              </a:solidFill>
              <a:prstDash val="solid"/>
              <a:round/>
            </a:ln>
          </a:bottom>
          <a:insideH>
            <a:ln w="12700" cap="flat">
              <a:solidFill>
                <a:srgbClr val="3C3C4C"/>
              </a:solidFill>
              <a:prstDash val="solid"/>
              <a:round/>
            </a:ln>
          </a:insideH>
          <a:insideV>
            <a:ln w="12700" cap="flat">
              <a:solidFill>
                <a:srgbClr val="3C3C4C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3C3C4C"/>
        </a:fontRef>
        <a:srgbClr val="3C3C4C"/>
      </a:tcTxStyle>
      <a:tcStyle>
        <a:tcBdr>
          <a:left>
            <a:ln w="12700" cap="flat">
              <a:solidFill>
                <a:srgbClr val="3C3C4C"/>
              </a:solidFill>
              <a:prstDash val="solid"/>
              <a:round/>
            </a:ln>
          </a:left>
          <a:right>
            <a:ln w="12700" cap="flat">
              <a:solidFill>
                <a:srgbClr val="3C3C4C"/>
              </a:solidFill>
              <a:prstDash val="solid"/>
              <a:round/>
            </a:ln>
          </a:right>
          <a:top>
            <a:ln w="38100" cap="flat">
              <a:solidFill>
                <a:srgbClr val="3C3C4C"/>
              </a:solidFill>
              <a:prstDash val="solid"/>
              <a:round/>
            </a:ln>
          </a:top>
          <a:bottom>
            <a:ln w="12700" cap="flat">
              <a:solidFill>
                <a:srgbClr val="3C3C4C"/>
              </a:solidFill>
              <a:prstDash val="solid"/>
              <a:round/>
            </a:ln>
          </a:bottom>
          <a:insideH>
            <a:ln w="12700" cap="flat">
              <a:solidFill>
                <a:srgbClr val="3C3C4C"/>
              </a:solidFill>
              <a:prstDash val="solid"/>
              <a:round/>
            </a:ln>
          </a:insideH>
          <a:insideV>
            <a:ln w="12700" cap="flat">
              <a:solidFill>
                <a:srgbClr val="3C3C4C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3C3C4C"/>
        </a:fontRef>
        <a:srgbClr val="3C3C4C"/>
      </a:tcTxStyle>
      <a:tcStyle>
        <a:tcBdr>
          <a:left>
            <a:ln w="12700" cap="flat">
              <a:solidFill>
                <a:srgbClr val="3C3C4C"/>
              </a:solidFill>
              <a:prstDash val="solid"/>
              <a:round/>
            </a:ln>
          </a:left>
          <a:right>
            <a:ln w="12700" cap="flat">
              <a:solidFill>
                <a:srgbClr val="3C3C4C"/>
              </a:solidFill>
              <a:prstDash val="solid"/>
              <a:round/>
            </a:ln>
          </a:right>
          <a:top>
            <a:ln w="12700" cap="flat">
              <a:solidFill>
                <a:srgbClr val="3C3C4C"/>
              </a:solidFill>
              <a:prstDash val="solid"/>
              <a:round/>
            </a:ln>
          </a:top>
          <a:bottom>
            <a:ln w="38100" cap="flat">
              <a:solidFill>
                <a:srgbClr val="3C3C4C"/>
              </a:solidFill>
              <a:prstDash val="solid"/>
              <a:round/>
            </a:ln>
          </a:bottom>
          <a:insideH>
            <a:ln w="12700" cap="flat">
              <a:solidFill>
                <a:srgbClr val="3C3C4C"/>
              </a:solidFill>
              <a:prstDash val="solid"/>
              <a:round/>
            </a:ln>
          </a:insideH>
          <a:insideV>
            <a:ln w="12700" cap="flat">
              <a:solidFill>
                <a:srgbClr val="3C3C4C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rgbClr val="CAECDD"/>
          </a:solidFill>
        </a:fill>
      </a:tcStyle>
    </a:wholeTbl>
    <a:band2H>
      <a:tcTxStyle/>
      <a:tcStyle>
        <a:tcBdr/>
        <a:fill>
          <a:solidFill>
            <a:srgbClr val="E6F6EF"/>
          </a:solidFill>
        </a:fill>
      </a:tcStyle>
    </a:band2H>
    <a:firstCol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381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381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381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381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381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381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6ABA9C"/>
        </a:fontRef>
        <a:srgbClr val="6ABA9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AF3EF"/>
          </a:solidFill>
        </a:fill>
      </a:tcStyle>
    </a:wholeTbl>
    <a:band2H>
      <a:tcTxStyle/>
      <a:tcStyle>
        <a:tcBdr/>
        <a:fill>
          <a:solidFill>
            <a:srgbClr val="6ABA9C"/>
          </a:solidFill>
        </a:fill>
      </a:tcStyle>
    </a:band2H>
    <a:firstCol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6ABA9C"/>
              </a:solidFill>
              <a:prstDash val="solid"/>
              <a:round/>
            </a:ln>
          </a:top>
          <a:bottom>
            <a:ln w="254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ABA9C"/>
          </a:solidFill>
        </a:fill>
      </a:tcStyle>
    </a:lastRow>
    <a:firstRow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6ABA9C"/>
              </a:solidFill>
              <a:prstDash val="solid"/>
              <a:round/>
            </a:ln>
          </a:top>
          <a:bottom>
            <a:ln w="254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rgbClr val="D3E6DE"/>
          </a:solidFill>
        </a:fill>
      </a:tcStyle>
    </a:wholeTbl>
    <a:band2H>
      <a:tcTxStyle/>
      <a:tcStyle>
        <a:tcBdr/>
        <a:fill>
          <a:solidFill>
            <a:srgbClr val="EAF3EF"/>
          </a:solidFill>
        </a:fill>
      </a:tcStyle>
    </a:band2H>
    <a:firstCol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rgbClr val="6ABA9C"/>
          </a:solidFill>
        </a:fill>
      </a:tcStyle>
    </a:firstCol>
    <a:lastRow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381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rgbClr val="6ABA9C"/>
          </a:solidFill>
        </a:fill>
      </a:tcStyle>
    </a:lastRow>
    <a:firstRow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381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rgbClr val="6ABA9C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2180" autoAdjust="0"/>
  </p:normalViewPr>
  <p:slideViewPr>
    <p:cSldViewPr snapToGrid="0">
      <p:cViewPr varScale="1">
        <p:scale>
          <a:sx n="35" d="100"/>
          <a:sy n="35" d="100"/>
        </p:scale>
        <p:origin x="1362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2" name="Shape 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087437" latinLnBrk="0">
      <a:spcBef>
        <a:spcPts val="900"/>
      </a:spcBef>
      <a:defRPr sz="2800">
        <a:latin typeface="+mn-lt"/>
        <a:ea typeface="+mn-ea"/>
        <a:cs typeface="+mn-cs"/>
        <a:sym typeface="Times New Roman"/>
      </a:defRPr>
    </a:lvl1pPr>
    <a:lvl2pPr indent="228600" defTabSz="1087437" latinLnBrk="0">
      <a:spcBef>
        <a:spcPts val="900"/>
      </a:spcBef>
      <a:defRPr sz="2800">
        <a:latin typeface="+mn-lt"/>
        <a:ea typeface="+mn-ea"/>
        <a:cs typeface="+mn-cs"/>
        <a:sym typeface="Times New Roman"/>
      </a:defRPr>
    </a:lvl2pPr>
    <a:lvl3pPr indent="457200" defTabSz="1087437" latinLnBrk="0">
      <a:spcBef>
        <a:spcPts val="900"/>
      </a:spcBef>
      <a:defRPr sz="2800">
        <a:latin typeface="+mn-lt"/>
        <a:ea typeface="+mn-ea"/>
        <a:cs typeface="+mn-cs"/>
        <a:sym typeface="Times New Roman"/>
      </a:defRPr>
    </a:lvl3pPr>
    <a:lvl4pPr indent="685800" defTabSz="1087437" latinLnBrk="0">
      <a:spcBef>
        <a:spcPts val="900"/>
      </a:spcBef>
      <a:defRPr sz="2800">
        <a:latin typeface="+mn-lt"/>
        <a:ea typeface="+mn-ea"/>
        <a:cs typeface="+mn-cs"/>
        <a:sym typeface="Times New Roman"/>
      </a:defRPr>
    </a:lvl4pPr>
    <a:lvl5pPr indent="914400" defTabSz="1087437" latinLnBrk="0">
      <a:spcBef>
        <a:spcPts val="900"/>
      </a:spcBef>
      <a:defRPr sz="2800">
        <a:latin typeface="+mn-lt"/>
        <a:ea typeface="+mn-ea"/>
        <a:cs typeface="+mn-cs"/>
        <a:sym typeface="Times New Roman"/>
      </a:defRPr>
    </a:lvl5pPr>
    <a:lvl6pPr indent="1143000" defTabSz="1087437" latinLnBrk="0">
      <a:spcBef>
        <a:spcPts val="900"/>
      </a:spcBef>
      <a:defRPr sz="2800">
        <a:latin typeface="+mn-lt"/>
        <a:ea typeface="+mn-ea"/>
        <a:cs typeface="+mn-cs"/>
        <a:sym typeface="Times New Roman"/>
      </a:defRPr>
    </a:lvl6pPr>
    <a:lvl7pPr indent="1371600" defTabSz="1087437" latinLnBrk="0">
      <a:spcBef>
        <a:spcPts val="900"/>
      </a:spcBef>
      <a:defRPr sz="2800">
        <a:latin typeface="+mn-lt"/>
        <a:ea typeface="+mn-ea"/>
        <a:cs typeface="+mn-cs"/>
        <a:sym typeface="Times New Roman"/>
      </a:defRPr>
    </a:lvl7pPr>
    <a:lvl8pPr indent="1600200" defTabSz="1087437" latinLnBrk="0">
      <a:spcBef>
        <a:spcPts val="900"/>
      </a:spcBef>
      <a:defRPr sz="2800">
        <a:latin typeface="+mn-lt"/>
        <a:ea typeface="+mn-ea"/>
        <a:cs typeface="+mn-cs"/>
        <a:sym typeface="Times New Roman"/>
      </a:defRPr>
    </a:lvl8pPr>
    <a:lvl9pPr indent="1828800" defTabSz="1087437" latinLnBrk="0">
      <a:spcBef>
        <a:spcPts val="900"/>
      </a:spcBef>
      <a:defRPr sz="2800">
        <a:latin typeface="+mn-lt"/>
        <a:ea typeface="+mn-ea"/>
        <a:cs typeface="+mn-cs"/>
        <a:sym typeface="Times New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2800" b="0" i="0" dirty="0">
                <a:effectLst/>
                <a:latin typeface="+mn-lt"/>
                <a:ea typeface="+mn-ea"/>
                <a:cs typeface="+mn-cs"/>
                <a:sym typeface="Times New Roman"/>
              </a:rPr>
              <a:t>Prezentacja pracy inżynierskiej powinna być zwięzła, wizualna i trwać ok. 10 minut (8–12 slajdów). </a:t>
            </a:r>
            <a:br>
              <a:rPr lang="pl-PL" sz="2800" b="0" i="0" dirty="0">
                <a:effectLst/>
                <a:latin typeface="+mn-lt"/>
                <a:ea typeface="+mn-ea"/>
                <a:cs typeface="+mn-cs"/>
                <a:sym typeface="Times New Roman"/>
              </a:rPr>
            </a:br>
            <a:r>
              <a:rPr lang="pl-PL" sz="2800" b="0" i="0" dirty="0">
                <a:effectLst/>
                <a:latin typeface="+mn-lt"/>
                <a:ea typeface="+mn-ea"/>
                <a:cs typeface="+mn-cs"/>
                <a:sym typeface="Times New Roman"/>
              </a:rPr>
              <a:t>Skupia się na celu pracy, metodologii, najważniejszych wynikach oraz wnioskach, unikając długich bloków tekstu na rzecz wykresów i schematów. </a:t>
            </a:r>
            <a:br>
              <a:rPr lang="pl-PL" sz="2800" b="0" i="0" dirty="0">
                <a:effectLst/>
                <a:latin typeface="+mn-lt"/>
                <a:ea typeface="+mn-ea"/>
                <a:cs typeface="+mn-cs"/>
                <a:sym typeface="Times New Roman"/>
              </a:rPr>
            </a:br>
            <a:r>
              <a:rPr lang="pl-PL" sz="2800" b="0" i="0" dirty="0">
                <a:effectLst/>
                <a:latin typeface="+mn-lt"/>
                <a:ea typeface="+mn-ea"/>
                <a:cs typeface="+mn-cs"/>
                <a:sym typeface="Times New Roman"/>
              </a:rPr>
              <a:t>Kluczowe jest przedstawienie samodzielnie wykonanego projektu lub badań oraz ich praktycznego zastosowania. </a:t>
            </a:r>
          </a:p>
          <a:p>
            <a:r>
              <a:rPr lang="pl-PL" sz="2800" b="1" i="0" dirty="0">
                <a:effectLst/>
                <a:latin typeface="+mn-lt"/>
                <a:ea typeface="+mn-ea"/>
                <a:cs typeface="+mn-cs"/>
                <a:sym typeface="Times New Roman"/>
              </a:rPr>
              <a:t>Struktura prezentacji pracy inżynierskiej:</a:t>
            </a:r>
            <a:endParaRPr lang="pl-PL" sz="2800" b="0" i="0" dirty="0">
              <a:effectLst/>
              <a:latin typeface="+mn-lt"/>
              <a:ea typeface="+mn-ea"/>
              <a:cs typeface="+mn-cs"/>
              <a:sym typeface="Times New Roman"/>
            </a:endParaRPr>
          </a:p>
          <a:p>
            <a:r>
              <a:rPr lang="pl-PL" sz="2800" b="1" i="0" dirty="0">
                <a:effectLst/>
                <a:latin typeface="+mn-lt"/>
                <a:ea typeface="+mn-ea"/>
                <a:cs typeface="+mn-cs"/>
                <a:sym typeface="Times New Roman"/>
              </a:rPr>
              <a:t>Slajd tytułowy:</a:t>
            </a:r>
            <a:r>
              <a:rPr lang="pl-PL" sz="2800" b="0" i="0" dirty="0">
                <a:effectLst/>
                <a:latin typeface="+mn-lt"/>
                <a:ea typeface="+mn-ea"/>
                <a:cs typeface="+mn-cs"/>
                <a:sym typeface="Times New Roman"/>
              </a:rPr>
              <a:t> Temat pracy, autor, promotor.</a:t>
            </a:r>
          </a:p>
          <a:p>
            <a:r>
              <a:rPr lang="pl-PL" sz="2800" b="1" i="0" dirty="0">
                <a:effectLst/>
                <a:latin typeface="+mn-lt"/>
                <a:ea typeface="+mn-ea"/>
                <a:cs typeface="+mn-cs"/>
                <a:sym typeface="Times New Roman"/>
              </a:rPr>
              <a:t>Wstęp/Cel:</a:t>
            </a:r>
            <a:r>
              <a:rPr lang="pl-PL" sz="2800" b="0" i="0" dirty="0">
                <a:effectLst/>
                <a:latin typeface="+mn-lt"/>
                <a:ea typeface="+mn-ea"/>
                <a:cs typeface="+mn-cs"/>
                <a:sym typeface="Times New Roman"/>
              </a:rPr>
              <a:t> Uzasadnienie podjęcia tematu, zarys problemu badawczego.</a:t>
            </a:r>
          </a:p>
          <a:p>
            <a:r>
              <a:rPr lang="pl-PL" sz="2800" b="1" i="0" dirty="0">
                <a:effectLst/>
                <a:latin typeface="+mn-lt"/>
                <a:ea typeface="+mn-ea"/>
                <a:cs typeface="+mn-cs"/>
                <a:sym typeface="Times New Roman"/>
              </a:rPr>
              <a:t>Metodyka/Narzędzia:</a:t>
            </a:r>
            <a:r>
              <a:rPr lang="pl-PL" sz="2800" b="0" i="0" dirty="0">
                <a:effectLst/>
                <a:latin typeface="+mn-lt"/>
                <a:ea typeface="+mn-ea"/>
                <a:cs typeface="+mn-cs"/>
                <a:sym typeface="Times New Roman"/>
              </a:rPr>
              <a:t> Krótki opis metod badawczych lub narzędzi inżynierskich zastosowanych do rozwiązania problemu.</a:t>
            </a:r>
          </a:p>
          <a:p>
            <a:r>
              <a:rPr lang="pl-PL" sz="2800" b="1" i="0" dirty="0">
                <a:effectLst/>
                <a:latin typeface="+mn-lt"/>
                <a:ea typeface="+mn-ea"/>
                <a:cs typeface="+mn-cs"/>
                <a:sym typeface="Times New Roman"/>
              </a:rPr>
              <a:t>Realizacja projektu/Wyniki badań:</a:t>
            </a:r>
            <a:r>
              <a:rPr lang="pl-PL" sz="2800" b="0" i="0" dirty="0">
                <a:effectLst/>
                <a:latin typeface="+mn-lt"/>
                <a:ea typeface="+mn-ea"/>
                <a:cs typeface="+mn-cs"/>
                <a:sym typeface="Times New Roman"/>
              </a:rPr>
              <a:t> Najważniejsza część – prezentacja wyników, symulacji, rysunków technicznych lub funkcjonalności aplikacji.</a:t>
            </a:r>
          </a:p>
          <a:p>
            <a:r>
              <a:rPr lang="pl-PL" sz="2800" b="1" i="0" dirty="0">
                <a:effectLst/>
                <a:latin typeface="+mn-lt"/>
                <a:ea typeface="+mn-ea"/>
                <a:cs typeface="+mn-cs"/>
                <a:sym typeface="Times New Roman"/>
              </a:rPr>
              <a:t>Podsumowanie i Wnioski:</a:t>
            </a:r>
            <a:r>
              <a:rPr lang="pl-PL" sz="2800" b="0" i="0" dirty="0">
                <a:effectLst/>
                <a:latin typeface="+mn-lt"/>
                <a:ea typeface="+mn-ea"/>
                <a:cs typeface="+mn-cs"/>
                <a:sym typeface="Times New Roman"/>
              </a:rPr>
              <a:t> Co zostało osiągnięte, co było innowacyjne, kierunki dalszych badań.</a:t>
            </a:r>
          </a:p>
          <a:p>
            <a:r>
              <a:rPr lang="pl-PL" sz="2800" b="1" i="0" dirty="0">
                <a:effectLst/>
                <a:latin typeface="+mn-lt"/>
                <a:ea typeface="+mn-ea"/>
                <a:cs typeface="+mn-cs"/>
                <a:sym typeface="Times New Roman"/>
              </a:rPr>
              <a:t>Zakończenie:</a:t>
            </a:r>
            <a:r>
              <a:rPr lang="pl-PL" sz="2800" b="0" i="0" dirty="0">
                <a:effectLst/>
                <a:latin typeface="+mn-lt"/>
                <a:ea typeface="+mn-ea"/>
                <a:cs typeface="+mn-cs"/>
                <a:sym typeface="Times New Roman"/>
              </a:rPr>
              <a:t> Podziękowanie za uwagę. </a:t>
            </a:r>
          </a:p>
          <a:p>
            <a:r>
              <a:rPr lang="pl-PL" sz="2800" b="1" i="0" dirty="0">
                <a:effectLst/>
                <a:latin typeface="+mn-lt"/>
                <a:ea typeface="+mn-ea"/>
                <a:cs typeface="+mn-cs"/>
                <a:sym typeface="Times New Roman"/>
              </a:rPr>
              <a:t>Wskazówki techniczne i merytoryczne:</a:t>
            </a:r>
            <a:endParaRPr lang="pl-PL" sz="2800" b="0" i="0" dirty="0">
              <a:effectLst/>
              <a:latin typeface="+mn-lt"/>
              <a:ea typeface="+mn-ea"/>
              <a:cs typeface="+mn-cs"/>
              <a:sym typeface="Times New Roman"/>
            </a:endParaRPr>
          </a:p>
          <a:p>
            <a:r>
              <a:rPr lang="pl-PL" sz="2800" b="1" i="0" dirty="0">
                <a:effectLst/>
                <a:latin typeface="+mn-lt"/>
                <a:ea typeface="+mn-ea"/>
                <a:cs typeface="+mn-cs"/>
                <a:sym typeface="Times New Roman"/>
              </a:rPr>
              <a:t>Wizualizacja:</a:t>
            </a:r>
            <a:r>
              <a:rPr lang="pl-PL" sz="2800" b="0" i="0" dirty="0">
                <a:effectLst/>
                <a:latin typeface="+mn-lt"/>
                <a:ea typeface="+mn-ea"/>
                <a:cs typeface="+mn-cs"/>
                <a:sym typeface="Times New Roman"/>
              </a:rPr>
              <a:t> Używaj schematów, wykresów, zdjęć i podpisuj je.</a:t>
            </a:r>
          </a:p>
          <a:p>
            <a:r>
              <a:rPr lang="pl-PL" sz="2800" b="1" i="0" dirty="0">
                <a:effectLst/>
                <a:latin typeface="+mn-lt"/>
                <a:ea typeface="+mn-ea"/>
                <a:cs typeface="+mn-cs"/>
                <a:sym typeface="Times New Roman"/>
              </a:rPr>
              <a:t>Zwięzłość:</a:t>
            </a:r>
            <a:r>
              <a:rPr lang="pl-PL" sz="2800" b="0" i="0" dirty="0">
                <a:effectLst/>
                <a:latin typeface="+mn-lt"/>
                <a:ea typeface="+mn-ea"/>
                <a:cs typeface="+mn-cs"/>
                <a:sym typeface="Times New Roman"/>
              </a:rPr>
              <a:t> Unikaj przeładowania tekstem; stosuj </a:t>
            </a:r>
            <a:r>
              <a:rPr lang="pl-PL" sz="2800" b="0" i="0" dirty="0" err="1">
                <a:effectLst/>
                <a:latin typeface="+mn-lt"/>
                <a:ea typeface="+mn-ea"/>
                <a:cs typeface="+mn-cs"/>
                <a:sym typeface="Times New Roman"/>
              </a:rPr>
              <a:t>punktory</a:t>
            </a:r>
            <a:r>
              <a:rPr lang="pl-PL" sz="2800" b="0" i="0" dirty="0">
                <a:effectLst/>
                <a:latin typeface="+mn-lt"/>
                <a:ea typeface="+mn-ea"/>
                <a:cs typeface="+mn-cs"/>
                <a:sym typeface="Times New Roman"/>
              </a:rPr>
              <a:t>.</a:t>
            </a:r>
          </a:p>
          <a:p>
            <a:r>
              <a:rPr lang="pl-PL" sz="2800" b="1" i="0" dirty="0">
                <a:effectLst/>
                <a:latin typeface="+mn-lt"/>
                <a:ea typeface="+mn-ea"/>
                <a:cs typeface="+mn-cs"/>
                <a:sym typeface="Times New Roman"/>
              </a:rPr>
              <a:t>Prezentacja ustna:</a:t>
            </a:r>
            <a:r>
              <a:rPr lang="pl-PL" sz="2800" b="0" i="0" dirty="0">
                <a:effectLst/>
                <a:latin typeface="+mn-lt"/>
                <a:ea typeface="+mn-ea"/>
                <a:cs typeface="+mn-cs"/>
                <a:sym typeface="Times New Roman"/>
              </a:rPr>
              <a:t> Nie czytaj ze slajdów, omawiaj je.</a:t>
            </a:r>
          </a:p>
          <a:p>
            <a:r>
              <a:rPr lang="pl-PL" sz="2800" b="1" i="0" dirty="0">
                <a:effectLst/>
                <a:latin typeface="+mn-lt"/>
                <a:ea typeface="+mn-ea"/>
                <a:cs typeface="+mn-cs"/>
                <a:sym typeface="Times New Roman"/>
              </a:rPr>
              <a:t>Przygotowanie:</a:t>
            </a:r>
            <a:r>
              <a:rPr lang="pl-PL" sz="2800" b="0" i="0" dirty="0">
                <a:effectLst/>
                <a:latin typeface="+mn-lt"/>
                <a:ea typeface="+mn-ea"/>
                <a:cs typeface="+mn-cs"/>
                <a:sym typeface="Times New Roman"/>
              </a:rPr>
              <a:t> Przećwicz prezentację, aby zmieścić się w czasie.</a:t>
            </a:r>
          </a:p>
          <a:p>
            <a:r>
              <a:rPr lang="pl-PL" sz="2800" b="1" i="0" dirty="0">
                <a:effectLst/>
                <a:latin typeface="+mn-lt"/>
                <a:ea typeface="+mn-ea"/>
                <a:cs typeface="+mn-cs"/>
                <a:sym typeface="Times New Roman"/>
              </a:rPr>
              <a:t>Format:</a:t>
            </a:r>
            <a:r>
              <a:rPr lang="pl-PL" sz="2800" b="0" i="0" dirty="0">
                <a:effectLst/>
                <a:latin typeface="+mn-lt"/>
                <a:ea typeface="+mn-ea"/>
                <a:cs typeface="+mn-cs"/>
                <a:sym typeface="Times New Roman"/>
              </a:rPr>
              <a:t> Zapisz prezentację w formacie PDF, aby uniknąć problemów z kompatybilnością. 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08513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457200" defTabSz="1087437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pl-PL" baseline="0" dirty="0"/>
              <a:t>części 1 inżynierska - aplikacyjna</a:t>
            </a:r>
          </a:p>
          <a:p>
            <a:pPr marL="457200" marR="0" lvl="0" indent="-457200" defTabSz="1087437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pl-PL" baseline="0" dirty="0"/>
              <a:t>przygotowanie aplikacji implementującej model sieci w paradygmacie obiektowym,</a:t>
            </a:r>
            <a:br>
              <a:rPr lang="pl-PL" baseline="0" dirty="0"/>
            </a:br>
            <a:r>
              <a:rPr lang="pl-PL" baseline="0" dirty="0"/>
              <a:t>z wykorzystaniem testów jednostkowych. dziedziczenia, interfejsów.</a:t>
            </a:r>
            <a:br>
              <a:rPr lang="pl-PL" baseline="0" dirty="0"/>
            </a:br>
            <a:endParaRPr lang="pl-PL" baseline="0" dirty="0"/>
          </a:p>
          <a:p>
            <a:pPr marL="457200" marR="0" lvl="0" indent="-457200" defTabSz="1087437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br>
              <a:rPr lang="pl-PL" baseline="0" dirty="0"/>
            </a:br>
            <a:r>
              <a:rPr lang="pl-PL" baseline="0" dirty="0"/>
              <a:t>– analiza sieci głębokich, - warstw splotowych jako detektor artefaktów</a:t>
            </a:r>
          </a:p>
          <a:p>
            <a:pPr marL="457200" marR="0" lvl="1" indent="-457200" defTabSz="1087437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pl-PL" baseline="0" dirty="0"/>
              <a:t>- analiza perceptronu i zastosowanie </a:t>
            </a:r>
          </a:p>
          <a:p>
            <a:pPr marL="457200" marR="0" lvl="0" indent="-457200" defTabSz="1087437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pl-PL" baseline="0" dirty="0" err="1"/>
              <a:t>MLP</a:t>
            </a:r>
            <a:r>
              <a:rPr lang="pl-PL" baseline="0" dirty="0"/>
              <a:t> jako sterowanie położeniem ramki dla uzyskania najlepszej dokładności klasyfikacji</a:t>
            </a:r>
          </a:p>
          <a:p>
            <a:pPr marL="457200" marR="0" lvl="0" indent="-457200" defTabSz="1087437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pl-PL" dirty="0"/>
              <a:t>systemy rozpoznawania (klasyfikacji) obrazu</a:t>
            </a:r>
            <a:r>
              <a:rPr lang="pl-PL" baseline="0" dirty="0"/>
              <a:t> </a:t>
            </a:r>
            <a:r>
              <a:rPr lang="pl-PL" dirty="0"/>
              <a:t>jako systemy czasu</a:t>
            </a:r>
            <a:r>
              <a:rPr lang="pl-PL" baseline="0" dirty="0"/>
              <a:t> (</a:t>
            </a:r>
            <a:r>
              <a:rPr lang="pl-PL" baseline="0" dirty="0" err="1"/>
              <a:t>quazi</a:t>
            </a:r>
            <a:r>
              <a:rPr lang="pl-PL" baseline="0" dirty="0"/>
              <a:t>) rzeczywistego </a:t>
            </a:r>
          </a:p>
          <a:p>
            <a:pPr marL="457200" indent="-457200">
              <a:buFontTx/>
              <a:buChar char="-"/>
            </a:pPr>
            <a:endParaRPr lang="pl-PL" baseline="0" dirty="0"/>
          </a:p>
          <a:p>
            <a:pPr marL="457200" indent="-457200">
              <a:buFontTx/>
              <a:buChar char="-"/>
            </a:pPr>
            <a:r>
              <a:rPr lang="pl-PL" baseline="0" dirty="0"/>
              <a:t>realizacja wydajnego uczenia SIECI z wykorzystaniem procesorów strumieniowych w architekturze CUDA </a:t>
            </a:r>
          </a:p>
          <a:p>
            <a:pPr marL="457200" indent="-457200">
              <a:buFontTx/>
              <a:buChar char="-"/>
            </a:pPr>
            <a:r>
              <a:rPr lang="pl-PL" baseline="0" dirty="0"/>
              <a:t>realizacja WYDAJNEGO UCZENIA z wykorzystaniem możliwości bibliotek </a:t>
            </a:r>
            <a:r>
              <a:rPr lang="pl-PL" baseline="0" dirty="0" err="1"/>
              <a:t>cuDNN</a:t>
            </a:r>
            <a:r>
              <a:rPr lang="pl-PL" baseline="0" dirty="0"/>
              <a:t> w </a:t>
            </a:r>
            <a:r>
              <a:rPr lang="pl-PL" baseline="0" dirty="0" err="1"/>
              <a:t>PyTorch</a:t>
            </a:r>
            <a:r>
              <a:rPr lang="pl-PL" baseline="0" dirty="0"/>
              <a:t> i hardware </a:t>
            </a:r>
            <a:r>
              <a:rPr lang="pl-PL" baseline="0" dirty="0" err="1"/>
              <a:t>TensorCode</a:t>
            </a:r>
            <a:r>
              <a:rPr lang="pl-PL" baseline="0" dirty="0"/>
              <a:t> </a:t>
            </a:r>
          </a:p>
          <a:p>
            <a:pPr marL="457200" indent="-457200">
              <a:buFontTx/>
              <a:buChar char="-"/>
            </a:pPr>
            <a:endParaRPr lang="pl-PL" baseline="0" dirty="0"/>
          </a:p>
          <a:p>
            <a:pPr marL="457200" indent="-457200">
              <a:buFontTx/>
              <a:buChar char="-"/>
            </a:pPr>
            <a:r>
              <a:rPr lang="pl-PL" baseline="0" dirty="0"/>
              <a:t>Dlaczego uczyć ? bo nauczone działa z małym opóżnieniem jako system czasu rzeczywistego o małym zapotrzebowaniu na zasoby !</a:t>
            </a:r>
          </a:p>
          <a:p>
            <a:pPr marL="457200" indent="-457200">
              <a:buFontTx/>
              <a:buChar char="-"/>
            </a:pPr>
            <a:endParaRPr lang="pl-PL" baseline="0" dirty="0"/>
          </a:p>
          <a:p>
            <a:pPr marL="457200" indent="-457200">
              <a:buFontTx/>
              <a:buChar char="-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97585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844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436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062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bg>
      <p:bgPr>
        <a:solidFill>
          <a:srgbClr val="3C3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/>
          </p:cNvSpPr>
          <p:nvPr>
            <p:ph type="body" sz="quarter" idx="1"/>
          </p:nvPr>
        </p:nvSpPr>
        <p:spPr>
          <a:xfrm>
            <a:off x="3657600" y="7772400"/>
            <a:ext cx="17068800" cy="3505200"/>
          </a:xfrm>
          <a:prstGeom prst="rect">
            <a:avLst/>
          </a:prstGeom>
        </p:spPr>
        <p:txBody>
          <a:bodyPr/>
          <a:lstStyle>
            <a:lvl1pPr algn="ctr"/>
            <a:lvl2pPr marL="0" indent="0" algn="ctr">
              <a:buSzTx/>
              <a:buNone/>
            </a:lvl2pPr>
            <a:lvl3pPr marL="0" algn="ctr">
              <a:buSzTx/>
              <a:buNone/>
            </a:lvl3pPr>
            <a:lvl4pPr marL="0" algn="ctr">
              <a:buSzTx/>
              <a:buNone/>
            </a:lvl4pPr>
            <a:lvl5pPr marL="0" algn="ctr">
              <a:buSz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xfrm>
            <a:off x="22599689" y="989012"/>
            <a:ext cx="693701" cy="812801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B4A0AA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title"/>
          </p:nvPr>
        </p:nvSpPr>
        <p:spPr>
          <a:xfrm>
            <a:off x="1270000" y="898525"/>
            <a:ext cx="20296188" cy="230187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5" name="Shape 45"/>
          <p:cNvSpPr>
            <a:spLocks noGrp="1"/>
          </p:cNvSpPr>
          <p:nvPr>
            <p:ph type="body" idx="1"/>
          </p:nvPr>
        </p:nvSpPr>
        <p:spPr>
          <a:xfrm>
            <a:off x="1266825" y="3173409"/>
            <a:ext cx="19483388" cy="8675693"/>
          </a:xfrm>
          <a:prstGeom prst="rect">
            <a:avLst/>
          </a:prstGeom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2A9A240B-F9B9-7549-8E1B-74F8467B7E23}"/>
              </a:ext>
            </a:extLst>
          </p:cNvPr>
          <p:cNvSpPr txBox="1"/>
          <p:nvPr userDrawn="1"/>
        </p:nvSpPr>
        <p:spPr>
          <a:xfrm>
            <a:off x="17784824" y="12662452"/>
            <a:ext cx="4944424" cy="8529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10709" tIns="110709" rIns="110709" bIns="110709" numCol="1" spcCol="38100" rtlCol="0" anchor="b">
            <a:spAutoFit/>
          </a:bodyPr>
          <a:lstStyle/>
          <a:p>
            <a:pPr marL="0" marR="0" indent="0" algn="l" defTabSz="1087437" rtl="0" fontAlgn="auto" latinLnBrk="0" hangingPunct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l-PL" sz="3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Times New Roman"/>
              </a:rPr>
              <a:t>Warszawa, 01 lutego 2026 r.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E0459D3-1299-7B4C-8E7D-59E9A5BE85EB}"/>
              </a:ext>
            </a:extLst>
          </p:cNvPr>
          <p:cNvSpPr txBox="1"/>
          <p:nvPr userDrawn="1"/>
        </p:nvSpPr>
        <p:spPr>
          <a:xfrm>
            <a:off x="6738730" y="12662452"/>
            <a:ext cx="10863469" cy="8529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0709" tIns="110709" rIns="110709" bIns="110709" numCol="1" spcCol="38100" rtlCol="0" anchor="b">
            <a:spAutoFit/>
          </a:bodyPr>
          <a:lstStyle/>
          <a:p>
            <a:pPr marL="0" marR="0" indent="0" algn="l" defTabSz="1087437" rtl="0" fontAlgn="auto" latinLnBrk="0" hangingPunct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l-PL" sz="3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Times New Roman"/>
              </a:rPr>
              <a:t>Piotr Heinzelman, </a:t>
            </a:r>
            <a:r>
              <a:rPr kumimoji="0" lang="pl-PL" sz="3200" b="0" i="1" u="none" strike="noStrike" cap="none" spc="0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Times New Roman"/>
              </a:rPr>
              <a:t>Porównanie wydajności wybranych języków...</a:t>
            </a:r>
          </a:p>
        </p:txBody>
      </p:sp>
      <p:pic>
        <p:nvPicPr>
          <p:cNvPr id="7" name="image3.png">
            <a:extLst>
              <a:ext uri="{FF2B5EF4-FFF2-40B4-BE49-F238E27FC236}">
                <a16:creationId xmlns:a16="http://schemas.microsoft.com/office/drawing/2014/main" id="{77B247D2-2669-CF40-A5C5-9383B3C73C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253751" y="1276350"/>
            <a:ext cx="5105403" cy="11163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asted-image.pdf">
            <a:extLst>
              <a:ext uri="{FF2B5EF4-FFF2-40B4-BE49-F238E27FC236}">
                <a16:creationId xmlns:a16="http://schemas.microsoft.com/office/drawing/2014/main" id="{3FEBF2C8-7012-4A4A-AEDA-59FFB1906E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77547" y="12711948"/>
            <a:ext cx="2226547" cy="75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1.png">
            <a:extLst>
              <a:ext uri="{FF2B5EF4-FFF2-40B4-BE49-F238E27FC236}">
                <a16:creationId xmlns:a16="http://schemas.microsoft.com/office/drawing/2014/main" id="{DCDE4F05-29E1-9641-94D0-666413A213E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92815" y="12782636"/>
            <a:ext cx="1833123" cy="6126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4" name="Shape 5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Shape 5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BA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jpeg"/>
          <p:cNvPicPr>
            <a:picLocks noChangeAspect="1"/>
          </p:cNvPicPr>
          <p:nvPr/>
        </p:nvPicPr>
        <p:blipFill>
          <a:blip r:embed="rId5">
            <a:alphaModFix amt="61720"/>
          </a:blip>
          <a:srcRect l="773" t="6618" r="2642" b="17335"/>
          <a:stretch>
            <a:fillRect/>
          </a:stretch>
        </p:blipFill>
        <p:spPr>
          <a:xfrm>
            <a:off x="-2024066" y="-44450"/>
            <a:ext cx="26296944" cy="13804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525" y="12460285"/>
            <a:ext cx="2085975" cy="69850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4"/>
          <p:cNvSpPr>
            <a:spLocks noGrp="1"/>
          </p:cNvSpPr>
          <p:nvPr>
            <p:ph type="title"/>
          </p:nvPr>
        </p:nvSpPr>
        <p:spPr>
          <a:xfrm>
            <a:off x="1273175" y="898525"/>
            <a:ext cx="20296188" cy="230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Shape 5"/>
          <p:cNvSpPr>
            <a:spLocks noGrp="1"/>
          </p:cNvSpPr>
          <p:nvPr>
            <p:ph type="body" idx="1"/>
          </p:nvPr>
        </p:nvSpPr>
        <p:spPr>
          <a:xfrm>
            <a:off x="1219200" y="3200400"/>
            <a:ext cx="21945600" cy="9051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hape 6"/>
          <p:cNvSpPr>
            <a:spLocks noGrp="1"/>
          </p:cNvSpPr>
          <p:nvPr>
            <p:ph type="sldNum" sz="quarter" idx="2"/>
          </p:nvPr>
        </p:nvSpPr>
        <p:spPr>
          <a:xfrm>
            <a:off x="23810696" y="12288837"/>
            <a:ext cx="882867" cy="10541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>
            <a:spAutoFit/>
          </a:bodyPr>
          <a:lstStyle>
            <a:lvl1pPr algn="r">
              <a:lnSpc>
                <a:spcPct val="93000"/>
              </a:lnSpc>
              <a:spcBef>
                <a:spcPts val="400"/>
              </a:spcBef>
              <a:defRPr sz="6900">
                <a:solidFill>
                  <a:srgbClr val="3C3C4C"/>
                </a:solidFill>
                <a:latin typeface="Radikal WUT"/>
                <a:ea typeface="Radikal WUT"/>
                <a:cs typeface="Radikal WUT"/>
                <a:sym typeface="Radikal WU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transition spd="med"/>
  <p:hf hdr="0" ftr="0" dt="0"/>
  <p:txStyles>
    <p:titleStyle>
      <a:lvl1pPr marL="0" marR="0" indent="0" algn="l" defTabSz="1087437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ln>
            <a:noFill/>
          </a:ln>
          <a:solidFill>
            <a:srgbClr val="3C3C4C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1087437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ln>
            <a:noFill/>
          </a:ln>
          <a:solidFill>
            <a:srgbClr val="3C3C4C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1087437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ln>
            <a:noFill/>
          </a:ln>
          <a:solidFill>
            <a:srgbClr val="3C3C4C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1087437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ln>
            <a:noFill/>
          </a:ln>
          <a:solidFill>
            <a:srgbClr val="3C3C4C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1087437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ln>
            <a:noFill/>
          </a:ln>
          <a:solidFill>
            <a:srgbClr val="3C3C4C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1087437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ln>
            <a:noFill/>
          </a:ln>
          <a:solidFill>
            <a:srgbClr val="3C3C4C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1087437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ln>
            <a:noFill/>
          </a:ln>
          <a:solidFill>
            <a:srgbClr val="3C3C4C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1087437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ln>
            <a:noFill/>
          </a:ln>
          <a:solidFill>
            <a:srgbClr val="3C3C4C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1087437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ln>
            <a:noFill/>
          </a:ln>
          <a:solidFill>
            <a:srgbClr val="3C3C4C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0" marR="0" indent="0" algn="l" defTabSz="1087437" rtl="0" latinLnBrk="0">
        <a:lnSpc>
          <a:spcPct val="120000"/>
        </a:lnSpc>
        <a:spcBef>
          <a:spcPts val="30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3C3C4C"/>
          </a:solidFill>
          <a:uFillTx/>
          <a:latin typeface="Adagio_Slab"/>
          <a:ea typeface="Adagio_Slab"/>
          <a:cs typeface="Adagio_Slab"/>
          <a:sym typeface="Adagio_Slab"/>
        </a:defRPr>
      </a:lvl1pPr>
      <a:lvl2pPr marL="681566" marR="0" indent="-338666" algn="l" defTabSz="1087437" rtl="0" latinLnBrk="0">
        <a:lnSpc>
          <a:spcPct val="120000"/>
        </a:lnSpc>
        <a:spcBef>
          <a:spcPts val="300"/>
        </a:spcBef>
        <a:spcAft>
          <a:spcPts val="0"/>
        </a:spcAft>
        <a:buClrTx/>
        <a:buSzPct val="100000"/>
        <a:buFontTx/>
        <a:buChar char="-"/>
        <a:tabLst/>
        <a:defRPr sz="4000" b="0" i="0" u="none" strike="noStrike" cap="none" spc="0" baseline="0">
          <a:ln>
            <a:noFill/>
          </a:ln>
          <a:solidFill>
            <a:srgbClr val="3C3C4C"/>
          </a:solidFill>
          <a:uFillTx/>
          <a:latin typeface="Adagio_Slab"/>
          <a:ea typeface="Adagio_Slab"/>
          <a:cs typeface="Adagio_Slab"/>
          <a:sym typeface="Adagio_Slab"/>
        </a:defRPr>
      </a:lvl2pPr>
      <a:lvl3pPr marL="342900" marR="0" indent="0" algn="l" defTabSz="1087437" rtl="0" latinLnBrk="0">
        <a:lnSpc>
          <a:spcPct val="120000"/>
        </a:lnSpc>
        <a:spcBef>
          <a:spcPts val="300"/>
        </a:spcBef>
        <a:spcAft>
          <a:spcPts val="0"/>
        </a:spcAft>
        <a:buClrTx/>
        <a:buSzPct val="100000"/>
        <a:buFontTx/>
        <a:buChar char="-"/>
        <a:tabLst/>
        <a:defRPr sz="4000" b="0" i="0" u="none" strike="noStrike" cap="none" spc="0" baseline="0">
          <a:ln>
            <a:noFill/>
          </a:ln>
          <a:solidFill>
            <a:srgbClr val="3C3C4C"/>
          </a:solidFill>
          <a:uFillTx/>
          <a:latin typeface="Adagio_Slab"/>
          <a:ea typeface="Adagio_Slab"/>
          <a:cs typeface="Adagio_Slab"/>
          <a:sym typeface="Adagio_Slab"/>
        </a:defRPr>
      </a:lvl3pPr>
      <a:lvl4pPr marL="342900" marR="0" indent="0" algn="l" defTabSz="1087437" rtl="0" latinLnBrk="0">
        <a:lnSpc>
          <a:spcPct val="120000"/>
        </a:lnSpc>
        <a:spcBef>
          <a:spcPts val="300"/>
        </a:spcBef>
        <a:spcAft>
          <a:spcPts val="0"/>
        </a:spcAft>
        <a:buClrTx/>
        <a:buSzPct val="100000"/>
        <a:buFontTx/>
        <a:buChar char="-"/>
        <a:tabLst/>
        <a:defRPr sz="4000" b="0" i="0" u="none" strike="noStrike" cap="none" spc="0" baseline="0">
          <a:ln>
            <a:noFill/>
          </a:ln>
          <a:solidFill>
            <a:srgbClr val="3C3C4C"/>
          </a:solidFill>
          <a:uFillTx/>
          <a:latin typeface="Adagio_Slab"/>
          <a:ea typeface="Adagio_Slab"/>
          <a:cs typeface="Adagio_Slab"/>
          <a:sym typeface="Adagio_Slab"/>
        </a:defRPr>
      </a:lvl4pPr>
      <a:lvl5pPr marL="342900" marR="0" indent="0" algn="l" defTabSz="1087437" rtl="0" latinLnBrk="0">
        <a:lnSpc>
          <a:spcPct val="120000"/>
        </a:lnSpc>
        <a:spcBef>
          <a:spcPts val="300"/>
        </a:spcBef>
        <a:spcAft>
          <a:spcPts val="0"/>
        </a:spcAft>
        <a:buClrTx/>
        <a:buSzPct val="100000"/>
        <a:buFontTx/>
        <a:buChar char="-"/>
        <a:tabLst/>
        <a:defRPr sz="4000" b="0" i="0" u="none" strike="noStrike" cap="none" spc="0" baseline="0">
          <a:ln>
            <a:noFill/>
          </a:ln>
          <a:solidFill>
            <a:srgbClr val="3C3C4C"/>
          </a:solidFill>
          <a:uFillTx/>
          <a:latin typeface="Adagio_Slab"/>
          <a:ea typeface="Adagio_Slab"/>
          <a:cs typeface="Adagio_Slab"/>
          <a:sym typeface="Adagio_Slab"/>
        </a:defRPr>
      </a:lvl5pPr>
      <a:lvl6pPr marL="800100" marR="0" indent="0" algn="l" defTabSz="1087437" rtl="0" latinLnBrk="0">
        <a:lnSpc>
          <a:spcPct val="12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ln>
            <a:noFill/>
          </a:ln>
          <a:solidFill>
            <a:srgbClr val="3C3C4C"/>
          </a:solidFill>
          <a:uFillTx/>
          <a:latin typeface="Adagio_Slab"/>
          <a:ea typeface="Adagio_Slab"/>
          <a:cs typeface="Adagio_Slab"/>
          <a:sym typeface="Adagio_Slab"/>
        </a:defRPr>
      </a:lvl6pPr>
      <a:lvl7pPr marL="1257300" marR="0" indent="0" algn="l" defTabSz="1087437" rtl="0" latinLnBrk="0">
        <a:lnSpc>
          <a:spcPct val="12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ln>
            <a:noFill/>
          </a:ln>
          <a:solidFill>
            <a:srgbClr val="3C3C4C"/>
          </a:solidFill>
          <a:uFillTx/>
          <a:latin typeface="Adagio_Slab"/>
          <a:ea typeface="Adagio_Slab"/>
          <a:cs typeface="Adagio_Slab"/>
          <a:sym typeface="Adagio_Slab"/>
        </a:defRPr>
      </a:lvl7pPr>
      <a:lvl8pPr marL="1714500" marR="0" indent="0" algn="l" defTabSz="1087437" rtl="0" latinLnBrk="0">
        <a:lnSpc>
          <a:spcPct val="12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ln>
            <a:noFill/>
          </a:ln>
          <a:solidFill>
            <a:srgbClr val="3C3C4C"/>
          </a:solidFill>
          <a:uFillTx/>
          <a:latin typeface="Adagio_Slab"/>
          <a:ea typeface="Adagio_Slab"/>
          <a:cs typeface="Adagio_Slab"/>
          <a:sym typeface="Adagio_Slab"/>
        </a:defRPr>
      </a:lvl8pPr>
      <a:lvl9pPr marL="2171700" marR="0" indent="0" algn="l" defTabSz="1087437" rtl="0" latinLnBrk="0">
        <a:lnSpc>
          <a:spcPct val="12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ln>
            <a:noFill/>
          </a:ln>
          <a:solidFill>
            <a:srgbClr val="3C3C4C"/>
          </a:solidFill>
          <a:uFillTx/>
          <a:latin typeface="Adagio_Slab"/>
          <a:ea typeface="Adagio_Slab"/>
          <a:cs typeface="Adagio_Slab"/>
          <a:sym typeface="Adagio_Slab"/>
        </a:defRPr>
      </a:lvl9pPr>
    </p:bodyStyle>
    <p:otherStyle>
      <a:lvl1pPr marL="0" marR="0" indent="0" algn="r" defTabSz="1087437" rtl="0" latinLnBrk="0">
        <a:lnSpc>
          <a:spcPct val="93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6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dikal WUT"/>
        </a:defRPr>
      </a:lvl1pPr>
      <a:lvl2pPr marL="0" marR="0" indent="0" algn="r" defTabSz="1087437" rtl="0" latinLnBrk="0">
        <a:lnSpc>
          <a:spcPct val="93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6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dikal WUT"/>
        </a:defRPr>
      </a:lvl2pPr>
      <a:lvl3pPr marL="0" marR="0" indent="0" algn="r" defTabSz="1087437" rtl="0" latinLnBrk="0">
        <a:lnSpc>
          <a:spcPct val="93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6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dikal WUT"/>
        </a:defRPr>
      </a:lvl3pPr>
      <a:lvl4pPr marL="0" marR="0" indent="0" algn="r" defTabSz="1087437" rtl="0" latinLnBrk="0">
        <a:lnSpc>
          <a:spcPct val="93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6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dikal WUT"/>
        </a:defRPr>
      </a:lvl4pPr>
      <a:lvl5pPr marL="0" marR="0" indent="0" algn="r" defTabSz="1087437" rtl="0" latinLnBrk="0">
        <a:lnSpc>
          <a:spcPct val="93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6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dikal WUT"/>
        </a:defRPr>
      </a:lvl5pPr>
      <a:lvl6pPr marL="0" marR="0" indent="0" algn="r" defTabSz="1087437" rtl="0" latinLnBrk="0">
        <a:lnSpc>
          <a:spcPct val="93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6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dikal WUT"/>
        </a:defRPr>
      </a:lvl6pPr>
      <a:lvl7pPr marL="0" marR="0" indent="0" algn="r" defTabSz="1087437" rtl="0" latinLnBrk="0">
        <a:lnSpc>
          <a:spcPct val="93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6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dikal WUT"/>
        </a:defRPr>
      </a:lvl7pPr>
      <a:lvl8pPr marL="0" marR="0" indent="0" algn="r" defTabSz="1087437" rtl="0" latinLnBrk="0">
        <a:lnSpc>
          <a:spcPct val="93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6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dikal WUT"/>
        </a:defRPr>
      </a:lvl8pPr>
      <a:lvl9pPr marL="0" marR="0" indent="0" algn="r" defTabSz="1087437" rtl="0" latinLnBrk="0">
        <a:lnSpc>
          <a:spcPct val="93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6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dikal WU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96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2000" y="1157814"/>
            <a:ext cx="5080000" cy="11107766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11059872"/>
            <a:ext cx="3429000" cy="1154756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hape 71"/>
          <p:cNvSpPr/>
          <p:nvPr/>
        </p:nvSpPr>
        <p:spPr>
          <a:xfrm>
            <a:off x="2667000" y="4391609"/>
            <a:ext cx="15459554" cy="3005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7000">
                <a:solidFill>
                  <a:srgbClr val="3C3C4C"/>
                </a:solidFill>
                <a:latin typeface="Adagio_Slab"/>
                <a:ea typeface="Adagio_Slab"/>
                <a:cs typeface="Adagio_Slab"/>
                <a:sym typeface="Adagio_Slab"/>
              </a:defRPr>
            </a:lvl1pPr>
          </a:lstStyle>
          <a:p>
            <a:pPr algn="ctr"/>
            <a:r>
              <a:rPr lang="pl-PL" i="1" dirty="0"/>
              <a:t>Porównanie wydajności wybranych języków programowania w realizacji sieci neuronowych do przetwarzania obrazu</a:t>
            </a:r>
            <a:endParaRPr i="1" dirty="0"/>
          </a:p>
        </p:txBody>
      </p:sp>
      <p:pic>
        <p:nvPicPr>
          <p:cNvPr id="72" name="pasted-image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5304" y="1157336"/>
            <a:ext cx="4628477" cy="156737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A783F90A-2F92-4B96-AA06-2331F693E78A}"/>
              </a:ext>
            </a:extLst>
          </p:cNvPr>
          <p:cNvSpPr txBox="1"/>
          <p:nvPr/>
        </p:nvSpPr>
        <p:spPr>
          <a:xfrm>
            <a:off x="7288614" y="7727472"/>
            <a:ext cx="6485206" cy="10007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0709" tIns="110709" rIns="110709" bIns="110709" numCol="1" spcCol="38100" rtlCol="0" anchor="t">
            <a:spAutoFit/>
          </a:bodyPr>
          <a:lstStyle/>
          <a:p>
            <a:pPr marL="0" marR="0" indent="0" algn="ctr" defTabSz="1087437" rtl="0" fontAlgn="auto" latinLnBrk="0" hangingPunct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l-PL" i="1" dirty="0">
                <a:solidFill>
                  <a:schemeClr val="tx2">
                    <a:lumMod val="50000"/>
                  </a:schemeClr>
                </a:solidFill>
              </a:rPr>
              <a:t>Piotr Heinzelman</a:t>
            </a:r>
            <a:endParaRPr kumimoji="0" lang="pl-PL" sz="4000" b="0" i="1" u="none" strike="noStrike" cap="none" spc="0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sym typeface="Times New Roman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DBD4959-EB84-4C01-8A08-9A2EB05BC4A4}"/>
              </a:ext>
            </a:extLst>
          </p:cNvPr>
          <p:cNvSpPr txBox="1"/>
          <p:nvPr/>
        </p:nvSpPr>
        <p:spPr>
          <a:xfrm>
            <a:off x="5943780" y="8633099"/>
            <a:ext cx="9069391" cy="8529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0709" tIns="110709" rIns="110709" bIns="110709" numCol="1" spcCol="38100" rtlCol="0" anchor="t">
            <a:spAutoFit/>
          </a:bodyPr>
          <a:lstStyle/>
          <a:p>
            <a:pPr algn="ctr"/>
            <a:r>
              <a:rPr lang="pl-PL" sz="3200" dirty="0">
                <a:solidFill>
                  <a:schemeClr val="tx2">
                    <a:lumMod val="50000"/>
                  </a:schemeClr>
                </a:solidFill>
              </a:rPr>
              <a:t>Promotor: </a:t>
            </a:r>
            <a:r>
              <a:rPr lang="pl-PL" sz="3200" i="1" dirty="0">
                <a:solidFill>
                  <a:schemeClr val="tx2">
                    <a:lumMod val="50000"/>
                  </a:schemeClr>
                </a:solidFill>
              </a:rPr>
              <a:t>dr inż. Witold Czajewski</a:t>
            </a:r>
            <a:endParaRPr kumimoji="0" lang="pl-PL" sz="3200" b="0" i="1" u="none" strike="noStrike" cap="none" spc="0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sym typeface="Times New Roman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61837A94-AB76-4E73-A62B-2F61224FB63A}"/>
              </a:ext>
            </a:extLst>
          </p:cNvPr>
          <p:cNvSpPr txBox="1"/>
          <p:nvPr/>
        </p:nvSpPr>
        <p:spPr>
          <a:xfrm>
            <a:off x="6893169" y="3155557"/>
            <a:ext cx="7484012" cy="10007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0709" tIns="110709" rIns="110709" bIns="110709" numCol="1" spcCol="38100" rtlCol="0" anchor="t">
            <a:spAutoFit/>
          </a:bodyPr>
          <a:lstStyle/>
          <a:p>
            <a:pPr marL="0" marR="0" indent="0" algn="ctr" defTabSz="1087437" rtl="0" fontAlgn="auto" latinLnBrk="0" hangingPunct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l-PL" i="1" dirty="0">
                <a:solidFill>
                  <a:schemeClr val="tx2">
                    <a:lumMod val="50000"/>
                  </a:schemeClr>
                </a:solidFill>
              </a:rPr>
              <a:t>Praca inżynierska</a:t>
            </a:r>
            <a:endParaRPr kumimoji="0" lang="pl-PL" sz="4000" b="0" i="1" u="none" strike="noStrike" cap="none" spc="0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sym typeface="Times New Roman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AA49275-70E8-4D44-B3CF-1B3E98AA4AC5}"/>
              </a:ext>
            </a:extLst>
          </p:cNvPr>
          <p:cNvSpPr txBox="1"/>
          <p:nvPr/>
        </p:nvSpPr>
        <p:spPr>
          <a:xfrm>
            <a:off x="15013172" y="12566637"/>
            <a:ext cx="5638524" cy="10007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10709" tIns="110709" rIns="110709" bIns="110709" numCol="1" spcCol="38100" rtlCol="0" anchor="t">
            <a:spAutoFit/>
          </a:bodyPr>
          <a:lstStyle/>
          <a:p>
            <a:pPr marL="0" marR="0" indent="0" algn="l" defTabSz="1087437" rtl="0" fontAlgn="auto" latinLnBrk="0" hangingPunct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l-PL" sz="4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Times New Roman"/>
              </a:rPr>
              <a:t>Warszawa, 01 luty 2026 r.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>
            <a:spLocks noGrp="1"/>
          </p:cNvSpPr>
          <p:nvPr>
            <p:ph type="sldNum" sz="quarter" idx="4294967295"/>
          </p:nvPr>
        </p:nvSpPr>
        <p:spPr>
          <a:xfrm>
            <a:off x="22687661" y="906463"/>
            <a:ext cx="477140" cy="105410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 dirty="0"/>
          </a:p>
        </p:txBody>
      </p:sp>
      <p:sp>
        <p:nvSpPr>
          <p:cNvPr id="75" name="Shape 75"/>
          <p:cNvSpPr>
            <a:spLocks noGrp="1"/>
          </p:cNvSpPr>
          <p:nvPr>
            <p:ph type="body" sz="half" idx="1"/>
          </p:nvPr>
        </p:nvSpPr>
        <p:spPr>
          <a:xfrm>
            <a:off x="1266824" y="2800722"/>
            <a:ext cx="15875000" cy="8252759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Systemy czasu rzeczywistego RTOS realizowane są głownie w: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ASM,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C,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C++.</a:t>
            </a:r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endParaRPr lang="pl-PL" dirty="0"/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Głębokie sieci neuronowe: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Python !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C++.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endParaRPr lang="pl-PL" dirty="0"/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Nvidia cuDNN dosarcza API dla: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Python,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C++.</a:t>
            </a:r>
          </a:p>
        </p:txBody>
      </p:sp>
      <p:sp>
        <p:nvSpPr>
          <p:cNvPr id="76" name="Shape 76"/>
          <p:cNvSpPr/>
          <p:nvPr/>
        </p:nvSpPr>
        <p:spPr>
          <a:xfrm>
            <a:off x="1266824" y="898525"/>
            <a:ext cx="17348202" cy="1001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7000">
                <a:solidFill>
                  <a:srgbClr val="3C3C4C"/>
                </a:solidFill>
                <a:latin typeface="Adagio_Slab"/>
                <a:ea typeface="Adagio_Slab"/>
                <a:cs typeface="Adagio_Slab"/>
                <a:sym typeface="Adagio_Slab"/>
              </a:defRPr>
            </a:lvl1pPr>
          </a:lstStyle>
          <a:p>
            <a:r>
              <a:rPr lang="pl-PL" dirty="0"/>
              <a:t>Cel dokumentu</a:t>
            </a:r>
            <a:endParaRPr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/>
          </p:cNvSpPr>
          <p:nvPr>
            <p:ph type="sldNum" sz="quarter" idx="4294967295"/>
          </p:nvPr>
        </p:nvSpPr>
        <p:spPr>
          <a:xfrm>
            <a:off x="22644719" y="906463"/>
            <a:ext cx="520079" cy="105410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81" name="Shape 81"/>
          <p:cNvSpPr>
            <a:spLocks noGrp="1"/>
          </p:cNvSpPr>
          <p:nvPr>
            <p:ph type="body" sz="half" idx="1"/>
          </p:nvPr>
        </p:nvSpPr>
        <p:spPr>
          <a:xfrm>
            <a:off x="1266825" y="3810000"/>
            <a:ext cx="15875000" cy="69850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4400" dirty="0"/>
              <a:t>Określenie realnego mierzalnego i porównywalnego wpływu </a:t>
            </a:r>
            <a:br>
              <a:rPr lang="pl-PL" sz="4400" dirty="0"/>
            </a:br>
            <a:r>
              <a:rPr lang="pl-PL" sz="4400" dirty="0"/>
              <a:t>decyzji projektowej dotyczącej wyboru środowiska </a:t>
            </a:r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4400" dirty="0"/>
              <a:t>na szybkość </a:t>
            </a:r>
            <a:r>
              <a:rPr lang="pl-PL" sz="4400" b="1" dirty="0"/>
              <a:t>uczenia</a:t>
            </a:r>
            <a:r>
              <a:rPr lang="pl-PL" sz="4400" dirty="0"/>
              <a:t> dużych sieci.</a:t>
            </a:r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endParaRPr dirty="0">
              <a:solidFill>
                <a:srgbClr val="965F77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defRPr sz="3500"/>
            </a:pPr>
            <a:r>
              <a:rPr lang="pl-PL" dirty="0">
                <a:solidFill>
                  <a:schemeClr val="bg2">
                    <a:lumMod val="40000"/>
                    <a:lumOff val="60000"/>
                  </a:schemeClr>
                </a:solidFill>
              </a:rPr>
              <a:t>Zwłaszcza w kontekście wyścigu technologicznych gigantów </a:t>
            </a:r>
            <a:br>
              <a:rPr lang="pl-PL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r>
              <a:rPr lang="pl-PL" dirty="0">
                <a:solidFill>
                  <a:schemeClr val="bg2">
                    <a:lumMod val="40000"/>
                    <a:lumOff val="60000"/>
                  </a:schemeClr>
                </a:solidFill>
              </a:rPr>
              <a:t>o osiągnięcie dominacji w dziedzinie ML.</a:t>
            </a:r>
            <a:endParaRPr lang="en-US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2" name="Shape 82"/>
          <p:cNvSpPr/>
          <p:nvPr/>
        </p:nvSpPr>
        <p:spPr>
          <a:xfrm>
            <a:off x="1266824" y="898525"/>
            <a:ext cx="17348202" cy="1001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7000">
                <a:solidFill>
                  <a:srgbClr val="3C3C4C"/>
                </a:solidFill>
                <a:latin typeface="Adagio_Slab"/>
                <a:ea typeface="Adagio_Slab"/>
                <a:cs typeface="Adagio_Slab"/>
                <a:sym typeface="Adagio_Slab"/>
              </a:defRPr>
            </a:lvl1pPr>
          </a:lstStyle>
          <a:p>
            <a:r>
              <a:rPr lang="pl-PL" dirty="0"/>
              <a:t>Motywacja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dissolv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/>
          </p:cNvSpPr>
          <p:nvPr>
            <p:ph type="sldNum" sz="quarter" idx="4294967295"/>
          </p:nvPr>
        </p:nvSpPr>
        <p:spPr>
          <a:xfrm>
            <a:off x="22644719" y="906463"/>
            <a:ext cx="520079" cy="105410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1087437" rtl="0" eaLnBrk="1" fontAlgn="auto" latinLnBrk="0" hangingPunct="0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6900" b="0" i="0" u="none" strike="noStrike" kern="0" cap="none" spc="0" normalizeH="0" baseline="0" noProof="0">
                <a:ln>
                  <a:noFill/>
                </a:ln>
                <a:solidFill>
                  <a:srgbClr val="3C3C4C"/>
                </a:solidFill>
                <a:effectLst/>
                <a:uLnTx/>
                <a:uFillTx/>
                <a:latin typeface="Radikal WUT"/>
                <a:sym typeface="Radikal WUT"/>
              </a:rPr>
              <a:pPr marL="0" marR="0" lvl="0" indent="0" algn="r" defTabSz="1087437" rtl="0" eaLnBrk="1" fontAlgn="auto" latinLnBrk="0" hangingPunct="0">
                <a:lnSpc>
                  <a:spcPct val="93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6900" b="0" i="0" u="none" strike="noStrike" kern="0" cap="none" spc="0" normalizeH="0" baseline="0" noProof="0" dirty="0">
              <a:ln>
                <a:noFill/>
              </a:ln>
              <a:solidFill>
                <a:srgbClr val="3C3C4C"/>
              </a:solidFill>
              <a:effectLst/>
              <a:uLnTx/>
              <a:uFillTx/>
              <a:latin typeface="Radikal WUT"/>
              <a:sym typeface="Radikal WUT"/>
            </a:endParaRPr>
          </a:p>
        </p:txBody>
      </p:sp>
      <p:sp>
        <p:nvSpPr>
          <p:cNvPr id="81" name="Shape 81"/>
          <p:cNvSpPr>
            <a:spLocks noGrp="1"/>
          </p:cNvSpPr>
          <p:nvPr>
            <p:ph type="body" sz="half" idx="1"/>
          </p:nvPr>
        </p:nvSpPr>
        <p:spPr>
          <a:xfrm>
            <a:off x="1266824" y="2545977"/>
            <a:ext cx="15875000" cy="69850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4400" dirty="0"/>
              <a:t>Uruchomienie modeli sieci konwolucyjnej w warunkach </a:t>
            </a:r>
            <a:r>
              <a:rPr lang="pl-PL" sz="4400" b="1" dirty="0"/>
              <a:t>porównywalnych </a:t>
            </a:r>
            <a:r>
              <a:rPr lang="pl-PL" sz="4400" dirty="0"/>
              <a:t>w wybranych środowiskach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wybór algorytmów i strategii 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wykorzystanie tych samych danych uczących</a:t>
            </a:r>
            <a:br>
              <a:rPr lang="pl-PL" dirty="0"/>
            </a:br>
            <a:endParaRPr lang="pl-PL" dirty="0"/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endParaRPr dirty="0">
              <a:solidFill>
                <a:srgbClr val="965F77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defRPr sz="3500"/>
            </a:pPr>
            <a:r>
              <a:rPr lang="pl-PL" dirty="0"/>
              <a:t>Cel uzupełniający: 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/>
            </a:pPr>
            <a:r>
              <a:rPr lang="pl-PL" dirty="0"/>
              <a:t>badanie wybranych elementów sieci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/>
            </a:pPr>
            <a:r>
              <a:rPr lang="pl-PL" dirty="0"/>
              <a:t>Wykorzystanie bezpośrednie interfejsu CUDA</a:t>
            </a:r>
            <a:br>
              <a:rPr lang="pl-PL" dirty="0"/>
            </a:br>
            <a:endParaRPr lang="pl-PL" dirty="0"/>
          </a:p>
          <a:p>
            <a:pPr>
              <a:defRPr sz="3500"/>
            </a:pPr>
            <a:endParaRPr dirty="0"/>
          </a:p>
        </p:txBody>
      </p:sp>
      <p:sp>
        <p:nvSpPr>
          <p:cNvPr id="82" name="Shape 82"/>
          <p:cNvSpPr/>
          <p:nvPr/>
        </p:nvSpPr>
        <p:spPr>
          <a:xfrm>
            <a:off x="1266824" y="898525"/>
            <a:ext cx="17348202" cy="1001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7000">
                <a:solidFill>
                  <a:srgbClr val="3C3C4C"/>
                </a:solidFill>
                <a:latin typeface="Adagio_Slab"/>
                <a:ea typeface="Adagio_Slab"/>
                <a:cs typeface="Adagio_Slab"/>
                <a:sym typeface="Adagio_Slab"/>
              </a:defRPr>
            </a:lvl1pPr>
          </a:lstStyle>
          <a:p>
            <a:pPr marL="0" marR="0" lvl="0" indent="0" algn="l" defTabSz="1087437" rtl="0" eaLnBrk="1" fontAlgn="auto" latinLnBrk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7000" b="0" i="0" u="none" strike="noStrike" kern="0" cap="none" spc="0" normalizeH="0" baseline="0" noProof="0" dirty="0">
                <a:ln>
                  <a:noFill/>
                </a:ln>
                <a:solidFill>
                  <a:srgbClr val="3C3C4C"/>
                </a:solidFill>
                <a:effectLst/>
                <a:uLnTx/>
                <a:uFillTx/>
                <a:latin typeface="Adagio_Slab"/>
                <a:sym typeface="Adagio_Slab"/>
              </a:rPr>
              <a:t>Cel pracy</a:t>
            </a:r>
            <a:endParaRPr kumimoji="0" sz="7000" b="0" i="0" u="none" strike="noStrike" kern="0" cap="none" spc="0" normalizeH="0" baseline="0" noProof="0" dirty="0">
              <a:ln>
                <a:noFill/>
              </a:ln>
              <a:solidFill>
                <a:srgbClr val="3C3C4C"/>
              </a:solidFill>
              <a:effectLst/>
              <a:uLnTx/>
              <a:uFillTx/>
              <a:latin typeface="Adagio_Slab"/>
              <a:sym typeface="Adagio_Slab"/>
            </a:endParaRPr>
          </a:p>
        </p:txBody>
      </p:sp>
    </p:spTree>
    <p:extLst>
      <p:ext uri="{BB962C8B-B14F-4D97-AF65-F5344CB8AC3E}">
        <p14:creationId xmlns:p14="http://schemas.microsoft.com/office/powerpoint/2010/main" val="1993542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dissolv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/>
          </p:cNvSpPr>
          <p:nvPr>
            <p:ph type="sldNum" sz="quarter" idx="4294967295"/>
          </p:nvPr>
        </p:nvSpPr>
        <p:spPr>
          <a:xfrm>
            <a:off x="22644719" y="906463"/>
            <a:ext cx="520079" cy="105410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1087437" rtl="0" eaLnBrk="1" fontAlgn="auto" latinLnBrk="0" hangingPunct="0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6900" b="0" i="0" u="none" strike="noStrike" kern="0" cap="none" spc="0" normalizeH="0" baseline="0" noProof="0">
                <a:ln>
                  <a:noFill/>
                </a:ln>
                <a:solidFill>
                  <a:srgbClr val="3C3C4C"/>
                </a:solidFill>
                <a:effectLst/>
                <a:uLnTx/>
                <a:uFillTx/>
                <a:latin typeface="Radikal WUT"/>
                <a:sym typeface="Radikal WUT"/>
              </a:rPr>
              <a:pPr marL="0" marR="0" lvl="0" indent="0" algn="r" defTabSz="1087437" rtl="0" eaLnBrk="1" fontAlgn="auto" latinLnBrk="0" hangingPunct="0">
                <a:lnSpc>
                  <a:spcPct val="93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sz="6900" b="0" i="0" u="none" strike="noStrike" kern="0" cap="none" spc="0" normalizeH="0" baseline="0" noProof="0">
              <a:ln>
                <a:noFill/>
              </a:ln>
              <a:solidFill>
                <a:srgbClr val="3C3C4C"/>
              </a:solidFill>
              <a:effectLst/>
              <a:uLnTx/>
              <a:uFillTx/>
              <a:latin typeface="Radikal WUT"/>
              <a:sym typeface="Radikal WUT"/>
            </a:endParaRPr>
          </a:p>
        </p:txBody>
      </p:sp>
      <p:sp>
        <p:nvSpPr>
          <p:cNvPr id="81" name="Shape 81"/>
          <p:cNvSpPr>
            <a:spLocks noGrp="1"/>
          </p:cNvSpPr>
          <p:nvPr>
            <p:ph type="body" sz="half" idx="1"/>
          </p:nvPr>
        </p:nvSpPr>
        <p:spPr>
          <a:xfrm>
            <a:off x="1266824" y="2935194"/>
            <a:ext cx="15875000" cy="69850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Hardware: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CPU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GPU CUDA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GPU TensorCore ?</a:t>
            </a:r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endParaRPr lang="pl-PL" dirty="0"/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Software: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Java (CPU) - własna implementacja w paradygmacie obiektowym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Matlab (CUDA)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Python –TensorFlow (?)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PyTorch (TC)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C++ (CPU, CUDA)</a:t>
            </a:r>
          </a:p>
        </p:txBody>
      </p:sp>
      <p:sp>
        <p:nvSpPr>
          <p:cNvPr id="82" name="Shape 82"/>
          <p:cNvSpPr/>
          <p:nvPr/>
        </p:nvSpPr>
        <p:spPr>
          <a:xfrm>
            <a:off x="1266824" y="898525"/>
            <a:ext cx="17348202" cy="1030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7000">
                <a:solidFill>
                  <a:srgbClr val="3C3C4C"/>
                </a:solidFill>
                <a:latin typeface="Adagio_Slab"/>
                <a:ea typeface="Adagio_Slab"/>
                <a:cs typeface="Adagio_Slab"/>
                <a:sym typeface="Adagio_Slab"/>
              </a:defRPr>
            </a:lvl1pPr>
          </a:lstStyle>
          <a:p>
            <a:pPr lvl="0">
              <a:defRPr sz="3500"/>
            </a:pPr>
            <a:r>
              <a:rPr lang="pl-PL" sz="7200" dirty="0"/>
              <a:t>Wykorzystane środowiska</a:t>
            </a:r>
            <a:endParaRPr kumimoji="0" lang="pl-PL" sz="7200" b="0" i="0" u="none" strike="noStrike" kern="0" cap="none" spc="0" normalizeH="0" baseline="0" noProof="0" dirty="0">
              <a:ln>
                <a:noFill/>
              </a:ln>
              <a:solidFill>
                <a:srgbClr val="3C3C4C"/>
              </a:solidFill>
              <a:effectLst/>
              <a:uLnTx/>
              <a:uFillTx/>
              <a:latin typeface="Adagio_Slab"/>
              <a:sym typeface="Adagio_Slab"/>
            </a:endParaRPr>
          </a:p>
        </p:txBody>
      </p:sp>
    </p:spTree>
    <p:extLst>
      <p:ext uri="{BB962C8B-B14F-4D97-AF65-F5344CB8AC3E}">
        <p14:creationId xmlns:p14="http://schemas.microsoft.com/office/powerpoint/2010/main" val="60656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dissolv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30DE23-F165-442C-6FAC-72F9A821A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>
            <a:extLst>
              <a:ext uri="{FF2B5EF4-FFF2-40B4-BE49-F238E27FC236}">
                <a16:creationId xmlns:a16="http://schemas.microsoft.com/office/drawing/2014/main" id="{2B529FD0-EAC7-1B12-7B7F-24CF7524121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2644719" y="906463"/>
            <a:ext cx="520079" cy="10541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marL="0" marR="0" lvl="0" indent="0" algn="r" defTabSz="1087437" rtl="0" eaLnBrk="1" fontAlgn="auto" latinLnBrk="0" hangingPunct="0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6900" b="0" i="0" u="none" strike="noStrike" kern="0" cap="none" spc="0" normalizeH="0" baseline="0" noProof="0">
                <a:ln>
                  <a:noFill/>
                </a:ln>
                <a:solidFill>
                  <a:srgbClr val="3C3C4C"/>
                </a:solidFill>
                <a:effectLst/>
                <a:uLnTx/>
                <a:uFillTx/>
                <a:latin typeface="Radikal WUT"/>
                <a:sym typeface="Radikal WUT"/>
              </a:rPr>
              <a:pPr marL="0" marR="0" lvl="0" indent="0" algn="r" defTabSz="1087437" rtl="0" eaLnBrk="1" fontAlgn="auto" latinLnBrk="0" hangingPunct="0">
                <a:lnSpc>
                  <a:spcPct val="93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6900" b="0" i="0" u="none" strike="noStrike" kern="0" cap="none" spc="0" normalizeH="0" baseline="0" noProof="0">
              <a:ln>
                <a:noFill/>
              </a:ln>
              <a:solidFill>
                <a:srgbClr val="3C3C4C"/>
              </a:solidFill>
              <a:effectLst/>
              <a:uLnTx/>
              <a:uFillTx/>
              <a:latin typeface="Radikal WUT"/>
              <a:sym typeface="Radikal WUT"/>
            </a:endParaRPr>
          </a:p>
        </p:txBody>
      </p:sp>
      <p:sp>
        <p:nvSpPr>
          <p:cNvPr id="81" name="Shape 81">
            <a:extLst>
              <a:ext uri="{FF2B5EF4-FFF2-40B4-BE49-F238E27FC236}">
                <a16:creationId xmlns:a16="http://schemas.microsoft.com/office/drawing/2014/main" id="{C1790EC6-7F1C-7F34-3CDC-5FCC9F39AFA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266824" y="3365500"/>
            <a:ext cx="15875000" cy="69850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4400" dirty="0"/>
              <a:t>Analizowane struktury sieci: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4400" dirty="0"/>
              <a:t>regresja liniowa ( tylko CPU )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4400" dirty="0"/>
              <a:t>prosty klasyfikator MLP, CNN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4400" dirty="0"/>
              <a:t>głęboka CNN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4400" b="1" dirty="0"/>
              <a:t>YOLO</a:t>
            </a:r>
            <a:r>
              <a:rPr lang="pl-PL" sz="4400" dirty="0"/>
              <a:t> ( tylko predykcja )</a:t>
            </a:r>
          </a:p>
        </p:txBody>
      </p:sp>
      <p:sp>
        <p:nvSpPr>
          <p:cNvPr id="82" name="Shape 82">
            <a:extLst>
              <a:ext uri="{FF2B5EF4-FFF2-40B4-BE49-F238E27FC236}">
                <a16:creationId xmlns:a16="http://schemas.microsoft.com/office/drawing/2014/main" id="{71B16133-9FE2-320B-13C4-58875A77EFA8}"/>
              </a:ext>
            </a:extLst>
          </p:cNvPr>
          <p:cNvSpPr/>
          <p:nvPr/>
        </p:nvSpPr>
        <p:spPr>
          <a:xfrm>
            <a:off x="1266824" y="898525"/>
            <a:ext cx="17348202" cy="1030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7000">
                <a:solidFill>
                  <a:srgbClr val="3C3C4C"/>
                </a:solidFill>
                <a:latin typeface="Adagio_Slab"/>
                <a:ea typeface="Adagio_Slab"/>
                <a:cs typeface="Adagio_Slab"/>
                <a:sym typeface="Adagio_Slab"/>
              </a:defRPr>
            </a:lvl1pPr>
          </a:lstStyle>
          <a:p>
            <a:pPr lvl="0">
              <a:defRPr sz="3500"/>
            </a:pPr>
            <a:r>
              <a:rPr lang="pl-PL" sz="7200" dirty="0"/>
              <a:t>Wykorzystane modele</a:t>
            </a:r>
            <a:endParaRPr kumimoji="0" lang="pl-PL" sz="7200" b="0" i="0" u="none" strike="noStrike" kern="0" cap="none" spc="0" normalizeH="0" baseline="0" noProof="0" dirty="0">
              <a:ln>
                <a:noFill/>
              </a:ln>
              <a:solidFill>
                <a:srgbClr val="3C3C4C"/>
              </a:solidFill>
              <a:effectLst/>
              <a:uLnTx/>
              <a:uFillTx/>
              <a:latin typeface="Adagio_Slab"/>
              <a:sym typeface="Adagio_Slab"/>
            </a:endParaRPr>
          </a:p>
        </p:txBody>
      </p:sp>
    </p:spTree>
    <p:extLst>
      <p:ext uri="{BB962C8B-B14F-4D97-AF65-F5344CB8AC3E}">
        <p14:creationId xmlns:p14="http://schemas.microsoft.com/office/powerpoint/2010/main" val="1622606150"/>
      </p:ext>
    </p:extLst>
  </p:cSld>
  <p:clrMapOvr>
    <a:masterClrMapping/>
  </p:clrMapOvr>
  <p:transition spd="slow">
    <p:dissolv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/>
          </p:cNvSpPr>
          <p:nvPr>
            <p:ph type="sldNum" sz="quarter" idx="4294967295"/>
          </p:nvPr>
        </p:nvSpPr>
        <p:spPr>
          <a:xfrm>
            <a:off x="22644719" y="906463"/>
            <a:ext cx="520079" cy="105410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1087437" rtl="0" eaLnBrk="1" fontAlgn="auto" latinLnBrk="0" hangingPunct="0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6900" b="0" i="0" u="none" strike="noStrike" kern="0" cap="none" spc="0" normalizeH="0" baseline="0" noProof="0">
                <a:ln>
                  <a:noFill/>
                </a:ln>
                <a:solidFill>
                  <a:srgbClr val="3C3C4C"/>
                </a:solidFill>
                <a:effectLst/>
                <a:uLnTx/>
                <a:uFillTx/>
                <a:latin typeface="Radikal WUT"/>
                <a:sym typeface="Radikal WUT"/>
              </a:rPr>
              <a:pPr marL="0" marR="0" lvl="0" indent="0" algn="r" defTabSz="1087437" rtl="0" eaLnBrk="1" fontAlgn="auto" latinLnBrk="0" hangingPunct="0">
                <a:lnSpc>
                  <a:spcPct val="93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6900" b="0" i="0" u="none" strike="noStrike" kern="0" cap="none" spc="0" normalizeH="0" baseline="0" noProof="0">
              <a:ln>
                <a:noFill/>
              </a:ln>
              <a:solidFill>
                <a:srgbClr val="3C3C4C"/>
              </a:solidFill>
              <a:effectLst/>
              <a:uLnTx/>
              <a:uFillTx/>
              <a:latin typeface="Radikal WUT"/>
              <a:sym typeface="Radikal WUT"/>
            </a:endParaRPr>
          </a:p>
        </p:txBody>
      </p:sp>
      <p:sp>
        <p:nvSpPr>
          <p:cNvPr id="81" name="Shape 81"/>
          <p:cNvSpPr>
            <a:spLocks noGrp="1"/>
          </p:cNvSpPr>
          <p:nvPr>
            <p:ph type="body" sz="half" idx="1"/>
          </p:nvPr>
        </p:nvSpPr>
        <p:spPr>
          <a:xfrm>
            <a:off x="1266824" y="3365500"/>
            <a:ext cx="15875000" cy="69850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4400" dirty="0"/>
              <a:t>zapotrzebowanie:</a:t>
            </a:r>
          </a:p>
          <a:p>
            <a:pPr marL="457200" indent="-457200">
              <a:buFontTx/>
              <a:buChar char="-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4400" dirty="0"/>
              <a:t>bardzo duża liczba mnożeń.</a:t>
            </a:r>
          </a:p>
          <a:p>
            <a:pPr marL="457200" indent="-457200">
              <a:buFontTx/>
              <a:buChar char="-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4400" dirty="0"/>
              <a:t>duża liczba wieloskładnikowych dodawań.</a:t>
            </a:r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br>
              <a:rPr lang="pl-PL" sz="4400" dirty="0"/>
            </a:br>
            <a:r>
              <a:rPr lang="pl-PL" sz="4400" dirty="0"/>
              <a:t>ograniczenia: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4400" dirty="0"/>
              <a:t>liczba jednostek obliczeniowych,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4400" dirty="0"/>
              <a:t>dostęp do pamięci.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endParaRPr lang="pl-PL" sz="4400" dirty="0"/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4400" dirty="0"/>
              <a:t>(sekwencyjne TC i równoległe CUDA)</a:t>
            </a:r>
            <a:endParaRPr sz="4400" dirty="0"/>
          </a:p>
        </p:txBody>
      </p:sp>
      <p:sp>
        <p:nvSpPr>
          <p:cNvPr id="82" name="Shape 82"/>
          <p:cNvSpPr/>
          <p:nvPr/>
        </p:nvSpPr>
        <p:spPr>
          <a:xfrm>
            <a:off x="1266824" y="898525"/>
            <a:ext cx="17348202" cy="1030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7000">
                <a:solidFill>
                  <a:srgbClr val="3C3C4C"/>
                </a:solidFill>
                <a:latin typeface="Adagio_Slab"/>
                <a:ea typeface="Adagio_Slab"/>
                <a:cs typeface="Adagio_Slab"/>
                <a:sym typeface="Adagio_Slab"/>
              </a:defRPr>
            </a:lvl1pPr>
          </a:lstStyle>
          <a:p>
            <a:pPr lvl="0">
              <a:defRPr sz="3500"/>
            </a:pPr>
            <a:r>
              <a:rPr lang="pl-PL" sz="7200" dirty="0"/>
              <a:t>Istota problemu</a:t>
            </a:r>
            <a:endParaRPr kumimoji="0" lang="pl-PL" sz="7200" b="0" i="0" u="none" strike="noStrike" kern="0" cap="none" spc="0" normalizeH="0" baseline="0" noProof="0" dirty="0">
              <a:ln>
                <a:noFill/>
              </a:ln>
              <a:solidFill>
                <a:srgbClr val="3C3C4C"/>
              </a:solidFill>
              <a:effectLst/>
              <a:uLnTx/>
              <a:uFillTx/>
              <a:latin typeface="Adagio_Slab"/>
              <a:sym typeface="Adagio_Slab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4CB4B-9DB5-3689-0A4C-4395824F5C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40924" y="5735782"/>
            <a:ext cx="10081834" cy="542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73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dissolv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/>
          </p:cNvSpPr>
          <p:nvPr>
            <p:ph type="sldNum" sz="quarter" idx="4294967295"/>
          </p:nvPr>
        </p:nvSpPr>
        <p:spPr>
          <a:xfrm>
            <a:off x="22658740" y="906463"/>
            <a:ext cx="506058" cy="105410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 dirty="0"/>
          </a:p>
        </p:txBody>
      </p:sp>
      <p:sp>
        <p:nvSpPr>
          <p:cNvPr id="92" name="Shape 92"/>
          <p:cNvSpPr>
            <a:spLocks noGrp="1"/>
          </p:cNvSpPr>
          <p:nvPr>
            <p:ph type="title"/>
          </p:nvPr>
        </p:nvSpPr>
        <p:spPr>
          <a:xfrm>
            <a:off x="1269997" y="898525"/>
            <a:ext cx="20296194" cy="2301875"/>
          </a:xfrm>
          <a:prstGeom prst="rect">
            <a:avLst/>
          </a:prstGeom>
        </p:spPr>
        <p:txBody>
          <a:bodyPr/>
          <a:lstStyle>
            <a:lvl1pPr>
              <a:defRPr>
                <a:latin typeface="Adagio_Slab"/>
                <a:ea typeface="Adagio_Slab"/>
                <a:cs typeface="Adagio_Slab"/>
                <a:sym typeface="Adagio_Slab"/>
              </a:defRPr>
            </a:lvl1pPr>
          </a:lstStyle>
          <a:p>
            <a:r>
              <a:rPr lang="pl-PL" dirty="0"/>
              <a:t>Zestawienie wyników</a:t>
            </a:r>
            <a:endParaRPr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C5489B7-3D07-4165-8261-25E9C25CAD4A}"/>
              </a:ext>
            </a:extLst>
          </p:cNvPr>
          <p:cNvSpPr txBox="1"/>
          <p:nvPr/>
        </p:nvSpPr>
        <p:spPr>
          <a:xfrm>
            <a:off x="5616713" y="3233072"/>
            <a:ext cx="9849853" cy="9268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0709" tIns="110709" rIns="110709" bIns="110709" numCol="1" spcCol="38100" rtlCol="0" anchor="t">
            <a:spAutoFit/>
          </a:bodyPr>
          <a:lstStyle/>
          <a:p>
            <a:pPr marL="0" marR="0" indent="0" algn="ctr" defTabSz="1087437" rtl="0" fontAlgn="auto" latinLnBrk="0" hangingPunct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l-PL" sz="3600" b="0" i="1" u="none" strike="noStrike" cap="none" spc="0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Times New Roman"/>
              </a:rPr>
              <a:t>Wpływ wyboru software na czas uczenia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DB3BF9-0C41-CE50-80D3-B69541C97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222" y="4589415"/>
            <a:ext cx="13484833" cy="49666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dissolv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/>
          </p:cNvSpPr>
          <p:nvPr>
            <p:ph type="sldNum" sz="quarter" idx="4294967295"/>
          </p:nvPr>
        </p:nvSpPr>
        <p:spPr>
          <a:xfrm>
            <a:off x="22644719" y="906463"/>
            <a:ext cx="520079" cy="105410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1087437" rtl="0" eaLnBrk="1" fontAlgn="auto" latinLnBrk="0" hangingPunct="0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6900" b="0" i="0" u="none" strike="noStrike" kern="0" cap="none" spc="0" normalizeH="0" baseline="0" noProof="0">
                <a:ln>
                  <a:noFill/>
                </a:ln>
                <a:solidFill>
                  <a:srgbClr val="3C3C4C"/>
                </a:solidFill>
                <a:effectLst/>
                <a:uLnTx/>
                <a:uFillTx/>
                <a:latin typeface="Radikal WUT"/>
                <a:sym typeface="Radikal WUT"/>
              </a:rPr>
              <a:pPr marL="0" marR="0" lvl="0" indent="0" algn="r" defTabSz="1087437" rtl="0" eaLnBrk="1" fontAlgn="auto" latinLnBrk="0" hangingPunct="0">
                <a:lnSpc>
                  <a:spcPct val="93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sz="6900" b="0" i="0" u="none" strike="noStrike" kern="0" cap="none" spc="0" normalizeH="0" baseline="0" noProof="0">
              <a:ln>
                <a:noFill/>
              </a:ln>
              <a:solidFill>
                <a:srgbClr val="3C3C4C"/>
              </a:solidFill>
              <a:effectLst/>
              <a:uLnTx/>
              <a:uFillTx/>
              <a:latin typeface="Radikal WUT"/>
              <a:sym typeface="Radikal WUT"/>
            </a:endParaRPr>
          </a:p>
        </p:txBody>
      </p:sp>
      <p:sp>
        <p:nvSpPr>
          <p:cNvPr id="81" name="Shape 81"/>
          <p:cNvSpPr>
            <a:spLocks noGrp="1"/>
          </p:cNvSpPr>
          <p:nvPr>
            <p:ph type="body" sz="half" idx="1"/>
          </p:nvPr>
        </p:nvSpPr>
        <p:spPr>
          <a:xfrm>
            <a:off x="2292062" y="2811318"/>
            <a:ext cx="15875000" cy="69850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Moje osiągnięcia:</a:t>
            </a:r>
          </a:p>
          <a:p>
            <a:pPr marL="514350" indent="-514350">
              <a:buAutoNum type="arabicParenR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Działający kod pracujący w CUDA C++ (nvcc)</a:t>
            </a:r>
          </a:p>
          <a:p>
            <a:pPr marL="514350" indent="-514350">
              <a:buAutoNum type="arabicParenR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Zrozumienie działania CNN i MLP na poziomie pojedynczych operacji matematycznych</a:t>
            </a:r>
          </a:p>
          <a:p>
            <a:pPr marL="514350" indent="-514350">
              <a:buFontTx/>
              <a:buAutoNum type="arabicParenR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Budowa krok po kroku detektora w Matlab</a:t>
            </a:r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endParaRPr lang="pl-PL" dirty="0"/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Niepowodzenia:</a:t>
            </a:r>
          </a:p>
          <a:p>
            <a:pPr marL="514350" indent="-514350">
              <a:buAutoNum type="arabicParenR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Nieudana próba napisania kodu dla TensorCode w C++</a:t>
            </a:r>
          </a:p>
          <a:p>
            <a:pPr marL="514350" indent="-514350">
              <a:buFontTx/>
              <a:buAutoNum type="arabicParenR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Problemy z uruchomieniem biblioteki TensorFlow</a:t>
            </a:r>
          </a:p>
          <a:p>
            <a:pPr marL="514350" indent="-514350">
              <a:buAutoNum type="arabicParenR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endParaRPr dirty="0"/>
          </a:p>
        </p:txBody>
      </p:sp>
      <p:sp>
        <p:nvSpPr>
          <p:cNvPr id="82" name="Shape 82"/>
          <p:cNvSpPr/>
          <p:nvPr/>
        </p:nvSpPr>
        <p:spPr>
          <a:xfrm>
            <a:off x="1266824" y="898525"/>
            <a:ext cx="17348202" cy="1030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7000">
                <a:solidFill>
                  <a:srgbClr val="3C3C4C"/>
                </a:solidFill>
                <a:latin typeface="Adagio_Slab"/>
                <a:ea typeface="Adagio_Slab"/>
                <a:cs typeface="Adagio_Slab"/>
                <a:sym typeface="Adagio_Slab"/>
              </a:defRPr>
            </a:lvl1pPr>
          </a:lstStyle>
          <a:p>
            <a:pPr marL="0" marR="0" lvl="0" indent="0" algn="l" defTabSz="1087437" rtl="0" eaLnBrk="1" fontAlgn="auto" latinLnBrk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/>
            </a:pPr>
            <a:r>
              <a:rPr kumimoji="0" lang="pl-PL" sz="7200" b="0" i="0" u="none" strike="noStrike" kern="0" cap="none" spc="0" normalizeH="0" baseline="0" noProof="0" dirty="0">
                <a:ln>
                  <a:noFill/>
                </a:ln>
                <a:solidFill>
                  <a:srgbClr val="3C3C4C"/>
                </a:solidFill>
                <a:effectLst/>
                <a:uLnTx/>
                <a:uFillTx/>
                <a:latin typeface="Adagio_Slab"/>
                <a:sym typeface="Adagio_Slab"/>
              </a:rPr>
              <a:t>Podsumowanie</a:t>
            </a:r>
          </a:p>
        </p:txBody>
      </p:sp>
    </p:spTree>
    <p:extLst>
      <p:ext uri="{BB962C8B-B14F-4D97-AF65-F5344CB8AC3E}">
        <p14:creationId xmlns:p14="http://schemas.microsoft.com/office/powerpoint/2010/main" val="399134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dissolv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/>
          </p:cNvSpPr>
          <p:nvPr>
            <p:ph type="sldNum" sz="quarter" idx="4294967295"/>
          </p:nvPr>
        </p:nvSpPr>
        <p:spPr>
          <a:xfrm>
            <a:off x="22644719" y="906463"/>
            <a:ext cx="520079" cy="105410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1087437" rtl="0" eaLnBrk="1" fontAlgn="auto" latinLnBrk="0" hangingPunct="0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6900" b="0" i="0" u="none" strike="noStrike" kern="0" cap="none" spc="0" normalizeH="0" baseline="0" noProof="0">
                <a:ln>
                  <a:noFill/>
                </a:ln>
                <a:solidFill>
                  <a:srgbClr val="3C3C4C"/>
                </a:solidFill>
                <a:effectLst/>
                <a:uLnTx/>
                <a:uFillTx/>
                <a:latin typeface="Radikal WUT"/>
                <a:sym typeface="Radikal WUT"/>
              </a:rPr>
              <a:pPr marL="0" marR="0" lvl="0" indent="0" algn="r" defTabSz="1087437" rtl="0" eaLnBrk="1" fontAlgn="auto" latinLnBrk="0" hangingPunct="0">
                <a:lnSpc>
                  <a:spcPct val="93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sz="6900" b="0" i="0" u="none" strike="noStrike" kern="0" cap="none" spc="0" normalizeH="0" baseline="0" noProof="0">
              <a:ln>
                <a:noFill/>
              </a:ln>
              <a:solidFill>
                <a:srgbClr val="3C3C4C"/>
              </a:solidFill>
              <a:effectLst/>
              <a:uLnTx/>
              <a:uFillTx/>
              <a:latin typeface="Radikal WUT"/>
              <a:sym typeface="Radikal WUT"/>
            </a:endParaRPr>
          </a:p>
        </p:txBody>
      </p:sp>
      <p:sp>
        <p:nvSpPr>
          <p:cNvPr id="81" name="Shape 81"/>
          <p:cNvSpPr>
            <a:spLocks noGrp="1"/>
          </p:cNvSpPr>
          <p:nvPr>
            <p:ph type="body" sz="half" idx="1"/>
          </p:nvPr>
        </p:nvSpPr>
        <p:spPr>
          <a:xfrm>
            <a:off x="1266825" y="3837709"/>
            <a:ext cx="15875000" cy="6985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Powtórzenie badań na podobnej karcie graficznej,</a:t>
            </a:r>
          </a:p>
          <a:p>
            <a:pPr marL="514350" indent="-514350">
              <a:buFont typeface="+mj-lt"/>
              <a:buAutoNum type="arabicPeriod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endParaRPr lang="pl-PL" dirty="0"/>
          </a:p>
          <a:p>
            <a:pPr marL="514350" indent="-514350">
              <a:buFont typeface="+mj-lt"/>
              <a:buAutoNum type="arabicPeriod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Uzupełnienie badań o porównanie RTX Nvidia z AMD Radeon.</a:t>
            </a:r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CUDA vs. Radeon Stream Processors</a:t>
            </a:r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TensorCode vs. WMMA (Wave Matrix Multiply-Accumulate)</a:t>
            </a:r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endParaRPr lang="pl-PL" dirty="0"/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Obie technologie wspiera Python PyTorch</a:t>
            </a:r>
          </a:p>
        </p:txBody>
      </p:sp>
      <p:sp>
        <p:nvSpPr>
          <p:cNvPr id="82" name="Shape 82"/>
          <p:cNvSpPr/>
          <p:nvPr/>
        </p:nvSpPr>
        <p:spPr>
          <a:xfrm>
            <a:off x="1266824" y="898525"/>
            <a:ext cx="17348202" cy="1030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7000">
                <a:solidFill>
                  <a:srgbClr val="3C3C4C"/>
                </a:solidFill>
                <a:latin typeface="Adagio_Slab"/>
                <a:ea typeface="Adagio_Slab"/>
                <a:cs typeface="Adagio_Slab"/>
                <a:sym typeface="Adagio_Slab"/>
              </a:defRPr>
            </a:lvl1pPr>
          </a:lstStyle>
          <a:p>
            <a:pPr marL="0" marR="0" lvl="0" indent="0" algn="l" defTabSz="1087437" rtl="0" eaLnBrk="1" fontAlgn="auto" latinLnBrk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/>
            </a:pPr>
            <a:r>
              <a:rPr lang="pl-PL" sz="7200" dirty="0"/>
              <a:t>Możliwości dalszego rozwoju</a:t>
            </a:r>
            <a:endParaRPr kumimoji="0" lang="pl-PL" sz="7200" b="0" i="0" u="none" strike="noStrike" kern="0" cap="none" spc="0" normalizeH="0" baseline="0" noProof="0" dirty="0">
              <a:ln>
                <a:noFill/>
              </a:ln>
              <a:solidFill>
                <a:srgbClr val="3C3C4C"/>
              </a:solidFill>
              <a:effectLst/>
              <a:uLnTx/>
              <a:uFillTx/>
              <a:latin typeface="Adagio_Slab"/>
              <a:sym typeface="Adagio_Slab"/>
            </a:endParaRPr>
          </a:p>
        </p:txBody>
      </p:sp>
    </p:spTree>
    <p:extLst>
      <p:ext uri="{BB962C8B-B14F-4D97-AF65-F5344CB8AC3E}">
        <p14:creationId xmlns:p14="http://schemas.microsoft.com/office/powerpoint/2010/main" val="1635565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dissolv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96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2000" y="1157814"/>
            <a:ext cx="5080000" cy="11107766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1059872"/>
            <a:ext cx="3429000" cy="1154756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hape 71"/>
          <p:cNvSpPr/>
          <p:nvPr/>
        </p:nvSpPr>
        <p:spPr>
          <a:xfrm>
            <a:off x="3018278" y="6078640"/>
            <a:ext cx="15459554" cy="1001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7000">
                <a:solidFill>
                  <a:srgbClr val="3C3C4C"/>
                </a:solidFill>
                <a:latin typeface="Adagio_Slab"/>
                <a:ea typeface="Adagio_Slab"/>
                <a:cs typeface="Adagio_Slab"/>
                <a:sym typeface="Adagio_Slab"/>
              </a:defRPr>
            </a:lvl1pPr>
          </a:lstStyle>
          <a:p>
            <a:pPr marL="0" marR="0" lvl="0" indent="0" algn="ctr" defTabSz="1087437" rtl="0" eaLnBrk="1" fontAlgn="auto" latinLnBrk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7000" b="0" i="1" u="none" strike="noStrike" kern="0" cap="none" spc="0" normalizeH="0" baseline="0" noProof="0" dirty="0">
                <a:ln>
                  <a:noFill/>
                </a:ln>
                <a:solidFill>
                  <a:srgbClr val="3C3C4C"/>
                </a:solidFill>
                <a:effectLst/>
                <a:uLnTx/>
                <a:uFillTx/>
                <a:latin typeface="Adagio_Slab"/>
                <a:sym typeface="Adagio_Slab"/>
              </a:rPr>
              <a:t>Dziękuję za uwagę !!!</a:t>
            </a:r>
            <a:endParaRPr kumimoji="0" sz="7000" b="0" i="1" u="none" strike="noStrike" kern="0" cap="none" spc="0" normalizeH="0" baseline="0" noProof="0" dirty="0">
              <a:ln>
                <a:noFill/>
              </a:ln>
              <a:solidFill>
                <a:srgbClr val="3C3C4C"/>
              </a:solidFill>
              <a:effectLst/>
              <a:uLnTx/>
              <a:uFillTx/>
              <a:latin typeface="Adagio_Slab"/>
              <a:sym typeface="Adagio_Slab"/>
            </a:endParaRPr>
          </a:p>
        </p:txBody>
      </p:sp>
      <p:pic>
        <p:nvPicPr>
          <p:cNvPr id="72" name="pasted-image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304" y="1157336"/>
            <a:ext cx="4628477" cy="156737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64818950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">
  <a:themeElements>
    <a:clrScheme name="Office">
      <a:dk1>
        <a:srgbClr val="6ABA9C"/>
      </a:dk1>
      <a:lt1>
        <a:srgbClr val="6ABA9C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Helvetica"/>
        <a:ea typeface="Helvetica"/>
        <a:cs typeface="Helvetica"/>
      </a:majorFont>
      <a:minorFont>
        <a:latin typeface="Times New Roman"/>
        <a:ea typeface="Times New Roma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ABA9C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110709" tIns="110709" rIns="110709" bIns="110709" numCol="1" spcCol="38100" rtlCol="0" anchor="t">
        <a:spAutoFit/>
      </a:bodyPr>
      <a:lstStyle>
        <a:defPPr marL="0" marR="0" indent="0" algn="l" defTabSz="1087437" rtl="0" fontAlgn="auto" latinLnBrk="0" hangingPunct="0">
          <a:lnSpc>
            <a:spcPct val="120000"/>
          </a:lnSpc>
          <a:spcBef>
            <a:spcPts val="30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6ABA9C"/>
            </a:solidFill>
            <a:effectLst/>
            <a:uFillTx/>
            <a:latin typeface="+mn-lt"/>
            <a:ea typeface="+mn-ea"/>
            <a:cs typeface="+mn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110709" tIns="110709" rIns="110709" bIns="110709" numCol="1" spcCol="38100" rtlCol="0" anchor="t">
        <a:spAutoFit/>
      </a:bodyPr>
      <a:lstStyle>
        <a:defPPr marL="0" marR="0" indent="0" algn="l" defTabSz="1087437" rtl="0" fontAlgn="auto" latinLnBrk="0" hangingPunct="0">
          <a:lnSpc>
            <a:spcPct val="120000"/>
          </a:lnSpc>
          <a:spcBef>
            <a:spcPts val="30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6ABA9C"/>
            </a:solidFill>
            <a:effectLst/>
            <a:uFillTx/>
            <a:latin typeface="+mn-lt"/>
            <a:ea typeface="+mn-ea"/>
            <a:cs typeface="+mn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Helvetica"/>
        <a:ea typeface="Helvetica"/>
        <a:cs typeface="Helvetica"/>
      </a:majorFont>
      <a:minorFont>
        <a:latin typeface="Times New Roman"/>
        <a:ea typeface="Times New Roma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ABA9C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110709" tIns="110709" rIns="110709" bIns="110709" numCol="1" spcCol="38100" rtlCol="0" anchor="t">
        <a:spAutoFit/>
      </a:bodyPr>
      <a:lstStyle>
        <a:defPPr marL="0" marR="0" indent="0" algn="l" defTabSz="1087437" rtl="0" fontAlgn="auto" latinLnBrk="0" hangingPunct="0">
          <a:lnSpc>
            <a:spcPct val="120000"/>
          </a:lnSpc>
          <a:spcBef>
            <a:spcPts val="30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6ABA9C"/>
            </a:solidFill>
            <a:effectLst/>
            <a:uFillTx/>
            <a:latin typeface="+mn-lt"/>
            <a:ea typeface="+mn-ea"/>
            <a:cs typeface="+mn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110709" tIns="110709" rIns="110709" bIns="110709" numCol="1" spcCol="38100" rtlCol="0" anchor="t">
        <a:spAutoFit/>
      </a:bodyPr>
      <a:lstStyle>
        <a:defPPr marL="0" marR="0" indent="0" algn="l" defTabSz="1087437" rtl="0" fontAlgn="auto" latinLnBrk="0" hangingPunct="0">
          <a:lnSpc>
            <a:spcPct val="120000"/>
          </a:lnSpc>
          <a:spcBef>
            <a:spcPts val="30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6ABA9C"/>
            </a:solidFill>
            <a:effectLst/>
            <a:uFillTx/>
            <a:latin typeface="+mn-lt"/>
            <a:ea typeface="+mn-ea"/>
            <a:cs typeface="+mn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648</Words>
  <Application>Microsoft Office PowerPoint</Application>
  <PresentationFormat>Custom</PresentationFormat>
  <Paragraphs>112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Adagio_Slab</vt:lpstr>
      <vt:lpstr>Arial</vt:lpstr>
      <vt:lpstr>Helvetica</vt:lpstr>
      <vt:lpstr>Radikal WUT</vt:lpstr>
      <vt:lpstr>Times New Roman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Zestawienie wyników</vt:lpstr>
      <vt:lpstr>PowerPoint Presentation</vt:lpstr>
      <vt:lpstr>PowerPoint Presentation</vt:lpstr>
      <vt:lpstr>PowerPoint Presentation</vt:lpstr>
    </vt:vector>
  </TitlesOfParts>
  <Manager/>
  <Company>Wydział Elektryczny, Politechnika Warszawska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na obronę pracy dyolomowej</dc:title>
  <dc:subject/>
  <dc:creator>Grzegorz Sarwas, Włodzimierz Dąbrowski</dc:creator>
  <cp:keywords>Prace dyplomowe</cp:keywords>
  <dc:description>Przykładowy szablon prezentacji na obronę pracy dyplomowej z uwzględnieniem obowiązującej identyfikacji wizualnej PW.
Wersja 1.0</dc:description>
  <cp:lastModifiedBy>Heinzelman Piotr (STUD)</cp:lastModifiedBy>
  <cp:revision>72</cp:revision>
  <dcterms:modified xsi:type="dcterms:W3CDTF">2026-02-02T22:53:32Z</dcterms:modified>
  <cp:category>Dyplom</cp:category>
</cp:coreProperties>
</file>